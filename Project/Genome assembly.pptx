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Slab"/>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0A8169-9F0D-42B9-96D0-E976CC1306B4}">
  <a:tblStyle styleId="{1F0A8169-9F0D-42B9-96D0-E976CC1306B4}"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270E24-AF8B-47DE-84B5-F30B851AF571}"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Slab-bold.fntdata"/><Relationship Id="rId30" Type="http://schemas.openxmlformats.org/officeDocument/2006/relationships/font" Target="fonts/RobotoSlab-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ed75ccf_0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ed75ccf_0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fc3d292e5_0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fc3d292e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fc3d292e5_0_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fc3d292e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fc3d292e5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fc3d292e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f391192_0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5f391192_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fc3d292e5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fc3d292e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fc3d292e5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fc3d292e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c9ec110d2f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c9ec110d2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fc3d292e5_0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fc3d292e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fc3d292e5_0_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fc3d292e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04a62fe20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04a62fe2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fc3d292e5_0_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fc3d292e5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fc3d292e5_0_1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fc3d292e5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04a62fe20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b04a62fe2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fc3d292e5_0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fc3d292e5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b04a62fe20_0_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b04a62fe2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b04a62fe20_0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b04a62fe2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b04a62fe20_0_3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b04a62fe2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c9ec110d2f_0_1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c9ec110d2f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4b42b6a_0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94b42b6a_0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FFFFFF"/>
        </a:solidFill>
      </p:bgPr>
    </p:bg>
    <p:spTree>
      <p:nvGrpSpPr>
        <p:cNvPr id="9" name="Shape 9"/>
        <p:cNvGrpSpPr/>
        <p:nvPr/>
      </p:nvGrpSpPr>
      <p:grpSpPr>
        <a:xfrm>
          <a:off x="0" y="0"/>
          <a:ext cx="0" cy="0"/>
          <a:chOff x="0" y="0"/>
          <a:chExt cx="0" cy="0"/>
        </a:xfrm>
      </p:grpSpPr>
      <p:sp>
        <p:nvSpPr>
          <p:cNvPr id="10" name="Google Shape;10;p2"/>
          <p:cNvSpPr/>
          <p:nvPr/>
        </p:nvSpPr>
        <p:spPr>
          <a:xfrm>
            <a:off x="1169100" y="400050"/>
            <a:ext cx="7554900" cy="38424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533400" y="1440375"/>
            <a:ext cx="5041200" cy="3150600"/>
          </a:xfrm>
          <a:prstGeom prst="rect">
            <a:avLst/>
          </a:prstGeom>
          <a:ln cap="flat" cmpd="sng" w="114300">
            <a:solidFill>
              <a:srgbClr val="FF0000"/>
            </a:solidFill>
            <a:prstDash val="solid"/>
            <a:round/>
            <a:headEnd len="sm" w="sm" type="none"/>
            <a:tailEnd len="sm" w="sm" type="none"/>
          </a:ln>
        </p:spPr>
        <p:txBody>
          <a:bodyPr anchorCtr="0" anchor="b" bIns="91425" lIns="91425" spcFirstLastPara="1" rIns="91425" wrap="square" tIns="91425">
            <a:noAutofit/>
          </a:bodyPr>
          <a:lstStyle>
            <a:lvl1pPr lvl="0">
              <a:spcBef>
                <a:spcPts val="0"/>
              </a:spcBef>
              <a:spcAft>
                <a:spcPts val="0"/>
              </a:spcAft>
              <a:buClr>
                <a:srgbClr val="111111"/>
              </a:buClr>
              <a:buSzPts val="6000"/>
              <a:buNone/>
              <a:defRPr sz="6000">
                <a:solidFill>
                  <a:srgbClr val="111111"/>
                </a:solidFill>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2" name="Shape 12"/>
        <p:cNvGrpSpPr/>
        <p:nvPr/>
      </p:nvGrpSpPr>
      <p:grpSpPr>
        <a:xfrm>
          <a:off x="0" y="0"/>
          <a:ext cx="0" cy="0"/>
          <a:chOff x="0" y="0"/>
          <a:chExt cx="0" cy="0"/>
        </a:xfrm>
      </p:grpSpPr>
      <p:sp>
        <p:nvSpPr>
          <p:cNvPr id="13" name="Google Shape;13;p3"/>
          <p:cNvSpPr/>
          <p:nvPr/>
        </p:nvSpPr>
        <p:spPr>
          <a:xfrm>
            <a:off x="1169100" y="400050"/>
            <a:ext cx="7554900" cy="38424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txBox="1"/>
          <p:nvPr>
            <p:ph type="ctrTitle"/>
          </p:nvPr>
        </p:nvSpPr>
        <p:spPr>
          <a:xfrm>
            <a:off x="533400" y="2802525"/>
            <a:ext cx="5270100" cy="1159800"/>
          </a:xfrm>
          <a:prstGeom prst="rect">
            <a:avLst/>
          </a:prstGeom>
          <a:ln cap="flat" cmpd="sng" w="114300">
            <a:solidFill>
              <a:srgbClr val="000000"/>
            </a:solidFill>
            <a:prstDash val="solid"/>
            <a:round/>
            <a:headEnd len="sm" w="sm" type="none"/>
            <a:tailEnd len="sm" w="sm" type="none"/>
          </a:ln>
        </p:spPr>
        <p:txBody>
          <a:bodyPr anchorCtr="0" anchor="b" bIns="91425" lIns="91425" spcFirstLastPara="1" rIns="91425" wrap="square" tIns="91425">
            <a:sp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5" name="Google Shape;15;p3"/>
          <p:cNvSpPr txBox="1"/>
          <p:nvPr>
            <p:ph idx="1" type="subTitle"/>
          </p:nvPr>
        </p:nvSpPr>
        <p:spPr>
          <a:xfrm>
            <a:off x="533400" y="4111050"/>
            <a:ext cx="7783500" cy="480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111111"/>
              </a:buClr>
              <a:buSzPts val="2200"/>
              <a:buNone/>
              <a:defRPr i="1" sz="2200"/>
            </a:lvl1pPr>
            <a:lvl2pPr lvl="1" rtl="0">
              <a:spcBef>
                <a:spcPts val="0"/>
              </a:spcBef>
              <a:spcAft>
                <a:spcPts val="0"/>
              </a:spcAft>
              <a:buClr>
                <a:srgbClr val="111111"/>
              </a:buClr>
              <a:buSzPts val="2200"/>
              <a:buNone/>
              <a:defRPr i="1" sz="2200"/>
            </a:lvl2pPr>
            <a:lvl3pPr lvl="2" rtl="0">
              <a:spcBef>
                <a:spcPts val="0"/>
              </a:spcBef>
              <a:spcAft>
                <a:spcPts val="0"/>
              </a:spcAft>
              <a:buClr>
                <a:srgbClr val="111111"/>
              </a:buClr>
              <a:buSzPts val="2200"/>
              <a:buNone/>
              <a:defRPr i="1" sz="2200"/>
            </a:lvl3pPr>
            <a:lvl4pPr lvl="3" rtl="0">
              <a:spcBef>
                <a:spcPts val="0"/>
              </a:spcBef>
              <a:spcAft>
                <a:spcPts val="0"/>
              </a:spcAft>
              <a:buClr>
                <a:srgbClr val="111111"/>
              </a:buClr>
              <a:buSzPts val="2200"/>
              <a:buNone/>
              <a:defRPr i="1" sz="2200"/>
            </a:lvl4pPr>
            <a:lvl5pPr lvl="4" rtl="0">
              <a:spcBef>
                <a:spcPts val="0"/>
              </a:spcBef>
              <a:spcAft>
                <a:spcPts val="0"/>
              </a:spcAft>
              <a:buClr>
                <a:srgbClr val="111111"/>
              </a:buClr>
              <a:buSzPts val="2200"/>
              <a:buNone/>
              <a:defRPr i="1" sz="2200"/>
            </a:lvl5pPr>
            <a:lvl6pPr lvl="5" rtl="0">
              <a:spcBef>
                <a:spcPts val="0"/>
              </a:spcBef>
              <a:spcAft>
                <a:spcPts val="0"/>
              </a:spcAft>
              <a:buClr>
                <a:srgbClr val="111111"/>
              </a:buClr>
              <a:buSzPts val="2200"/>
              <a:buNone/>
              <a:defRPr i="1" sz="2200"/>
            </a:lvl6pPr>
            <a:lvl7pPr lvl="6" rtl="0">
              <a:spcBef>
                <a:spcPts val="0"/>
              </a:spcBef>
              <a:spcAft>
                <a:spcPts val="0"/>
              </a:spcAft>
              <a:buClr>
                <a:srgbClr val="111111"/>
              </a:buClr>
              <a:buSzPts val="2200"/>
              <a:buNone/>
              <a:defRPr i="1" sz="2200"/>
            </a:lvl7pPr>
            <a:lvl8pPr lvl="7" rtl="0">
              <a:spcBef>
                <a:spcPts val="0"/>
              </a:spcBef>
              <a:spcAft>
                <a:spcPts val="0"/>
              </a:spcAft>
              <a:buClr>
                <a:srgbClr val="111111"/>
              </a:buClr>
              <a:buSzPts val="2200"/>
              <a:buNone/>
              <a:defRPr i="1" sz="2200"/>
            </a:lvl8pPr>
            <a:lvl9pPr lvl="8" rtl="0">
              <a:spcBef>
                <a:spcPts val="0"/>
              </a:spcBef>
              <a:spcAft>
                <a:spcPts val="0"/>
              </a:spcAft>
              <a:buClr>
                <a:srgbClr val="111111"/>
              </a:buClr>
              <a:buSzPts val="2200"/>
              <a:buNone/>
              <a:defRPr i="1" sz="2200"/>
            </a:lvl9pPr>
          </a:lstStyle>
          <a:p/>
        </p:txBody>
      </p:sp>
      <p:sp>
        <p:nvSpPr>
          <p:cNvPr id="16" name="Google Shape;16;p3"/>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7" name="Shape 17"/>
        <p:cNvGrpSpPr/>
        <p:nvPr/>
      </p:nvGrpSpPr>
      <p:grpSpPr>
        <a:xfrm>
          <a:off x="0" y="0"/>
          <a:ext cx="0" cy="0"/>
          <a:chOff x="0" y="0"/>
          <a:chExt cx="0" cy="0"/>
        </a:xfrm>
      </p:grpSpPr>
      <p:sp>
        <p:nvSpPr>
          <p:cNvPr id="18" name="Google Shape;18;p4"/>
          <p:cNvSpPr/>
          <p:nvPr/>
        </p:nvSpPr>
        <p:spPr>
          <a:xfrm>
            <a:off x="1169100" y="7213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idx="1" type="body"/>
          </p:nvPr>
        </p:nvSpPr>
        <p:spPr>
          <a:xfrm>
            <a:off x="2402275" y="1230875"/>
            <a:ext cx="5721000" cy="3026700"/>
          </a:xfrm>
          <a:prstGeom prst="rect">
            <a:avLst/>
          </a:prstGeom>
        </p:spPr>
        <p:txBody>
          <a:bodyPr anchorCtr="0" anchor="t" bIns="91425" lIns="91425" spcFirstLastPara="1" rIns="91425" wrap="square" tIns="91425">
            <a:noAutofit/>
          </a:bodyPr>
          <a:lstStyle>
            <a:lvl1pPr indent="-431800" lvl="0" marL="457200" rtl="0">
              <a:spcBef>
                <a:spcPts val="600"/>
              </a:spcBef>
              <a:spcAft>
                <a:spcPts val="0"/>
              </a:spcAft>
              <a:buSzPts val="3200"/>
              <a:buFont typeface="Georgia"/>
              <a:buChar char="□"/>
              <a:defRPr i="1" sz="3200">
                <a:latin typeface="Georgia"/>
                <a:ea typeface="Georgia"/>
                <a:cs typeface="Georgia"/>
                <a:sym typeface="Georgia"/>
              </a:defRPr>
            </a:lvl1pPr>
            <a:lvl2pPr indent="-431800" lvl="1" marL="914400" rtl="0">
              <a:spcBef>
                <a:spcPts val="0"/>
              </a:spcBef>
              <a:spcAft>
                <a:spcPts val="0"/>
              </a:spcAft>
              <a:buSzPts val="3200"/>
              <a:buFont typeface="Georgia"/>
              <a:buChar char="■"/>
              <a:defRPr i="1" sz="3200">
                <a:latin typeface="Georgia"/>
                <a:ea typeface="Georgia"/>
                <a:cs typeface="Georgia"/>
                <a:sym typeface="Georgia"/>
              </a:defRPr>
            </a:lvl2pPr>
            <a:lvl3pPr indent="-431800" lvl="2" marL="1371600" rtl="0">
              <a:spcBef>
                <a:spcPts val="0"/>
              </a:spcBef>
              <a:spcAft>
                <a:spcPts val="0"/>
              </a:spcAft>
              <a:buSzPts val="3200"/>
              <a:buFont typeface="Georgia"/>
              <a:buChar char="▣"/>
              <a:defRPr i="1" sz="3200">
                <a:latin typeface="Georgia"/>
                <a:ea typeface="Georgia"/>
                <a:cs typeface="Georgia"/>
                <a:sym typeface="Georgia"/>
              </a:defRPr>
            </a:lvl3pPr>
            <a:lvl4pPr indent="-431800" lvl="3" marL="1828800" rtl="0">
              <a:spcBef>
                <a:spcPts val="0"/>
              </a:spcBef>
              <a:spcAft>
                <a:spcPts val="0"/>
              </a:spcAft>
              <a:buSzPts val="3200"/>
              <a:buFont typeface="Georgia"/>
              <a:buChar char="●"/>
              <a:defRPr i="1" sz="3200">
                <a:latin typeface="Georgia"/>
                <a:ea typeface="Georgia"/>
                <a:cs typeface="Georgia"/>
                <a:sym typeface="Georgia"/>
              </a:defRPr>
            </a:lvl4pPr>
            <a:lvl5pPr indent="-431800" lvl="4" marL="2286000" rtl="0">
              <a:spcBef>
                <a:spcPts val="0"/>
              </a:spcBef>
              <a:spcAft>
                <a:spcPts val="0"/>
              </a:spcAft>
              <a:buSzPts val="3200"/>
              <a:buFont typeface="Georgia"/>
              <a:buChar char="○"/>
              <a:defRPr i="1" sz="3200">
                <a:latin typeface="Georgia"/>
                <a:ea typeface="Georgia"/>
                <a:cs typeface="Georgia"/>
                <a:sym typeface="Georgia"/>
              </a:defRPr>
            </a:lvl5pPr>
            <a:lvl6pPr indent="-431800" lvl="5" marL="2743200" rtl="0">
              <a:spcBef>
                <a:spcPts val="0"/>
              </a:spcBef>
              <a:spcAft>
                <a:spcPts val="0"/>
              </a:spcAft>
              <a:buSzPts val="3200"/>
              <a:buFont typeface="Georgia"/>
              <a:buChar char="■"/>
              <a:defRPr i="1" sz="3200">
                <a:latin typeface="Georgia"/>
                <a:ea typeface="Georgia"/>
                <a:cs typeface="Georgia"/>
                <a:sym typeface="Georgia"/>
              </a:defRPr>
            </a:lvl6pPr>
            <a:lvl7pPr indent="-431800" lvl="6" marL="3200400" rtl="0">
              <a:spcBef>
                <a:spcPts val="0"/>
              </a:spcBef>
              <a:spcAft>
                <a:spcPts val="0"/>
              </a:spcAft>
              <a:buSzPts val="3200"/>
              <a:buFont typeface="Georgia"/>
              <a:buChar char="●"/>
              <a:defRPr i="1" sz="3200">
                <a:latin typeface="Georgia"/>
                <a:ea typeface="Georgia"/>
                <a:cs typeface="Georgia"/>
                <a:sym typeface="Georgia"/>
              </a:defRPr>
            </a:lvl7pPr>
            <a:lvl8pPr indent="-431800" lvl="7" marL="3657600" rtl="0">
              <a:spcBef>
                <a:spcPts val="0"/>
              </a:spcBef>
              <a:spcAft>
                <a:spcPts val="0"/>
              </a:spcAft>
              <a:buSzPts val="3200"/>
              <a:buFont typeface="Georgia"/>
              <a:buChar char="○"/>
              <a:defRPr i="1" sz="3200">
                <a:latin typeface="Georgia"/>
                <a:ea typeface="Georgia"/>
                <a:cs typeface="Georgia"/>
                <a:sym typeface="Georgia"/>
              </a:defRPr>
            </a:lvl8pPr>
            <a:lvl9pPr indent="-431800" lvl="8" marL="4114800">
              <a:spcBef>
                <a:spcPts val="0"/>
              </a:spcBef>
              <a:spcAft>
                <a:spcPts val="0"/>
              </a:spcAft>
              <a:buSzPts val="3200"/>
              <a:buFont typeface="Georgia"/>
              <a:buChar char="■"/>
              <a:defRPr i="1" sz="3200">
                <a:latin typeface="Georgia"/>
                <a:ea typeface="Georgia"/>
                <a:cs typeface="Georgia"/>
                <a:sym typeface="Georgia"/>
              </a:defRPr>
            </a:lvl9pPr>
          </a:lstStyle>
          <a:p/>
        </p:txBody>
      </p:sp>
      <p:sp>
        <p:nvSpPr>
          <p:cNvPr id="20" name="Google Shape;20;p4"/>
          <p:cNvSpPr txBox="1"/>
          <p:nvPr/>
        </p:nvSpPr>
        <p:spPr>
          <a:xfrm>
            <a:off x="208375" y="58689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0">
                <a:solidFill>
                  <a:srgbClr val="FF0000"/>
                </a:solidFill>
              </a:rPr>
              <a:t>“</a:t>
            </a:r>
            <a:endParaRPr b="1" sz="10000">
              <a:solidFill>
                <a:srgbClr val="FF0000"/>
              </a:solidFill>
            </a:endParaRPr>
          </a:p>
        </p:txBody>
      </p:sp>
      <p:sp>
        <p:nvSpPr>
          <p:cNvPr id="21" name="Google Shape;21;p4"/>
          <p:cNvSpPr/>
          <p:nvPr/>
        </p:nvSpPr>
        <p:spPr>
          <a:xfrm>
            <a:off x="539122" y="556741"/>
            <a:ext cx="1295700" cy="1298400"/>
          </a:xfrm>
          <a:prstGeom prst="rect">
            <a:avLst/>
          </a:prstGeom>
          <a:noFill/>
          <a:ln cap="flat" cmpd="sng" w="76200">
            <a:solidFill>
              <a:srgbClr val="FF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3" name="Shape 23"/>
        <p:cNvGrpSpPr/>
        <p:nvPr/>
      </p:nvGrpSpPr>
      <p:grpSpPr>
        <a:xfrm>
          <a:off x="0" y="0"/>
          <a:ext cx="0" cy="0"/>
          <a:chOff x="0" y="0"/>
          <a:chExt cx="0" cy="0"/>
        </a:xfrm>
      </p:grpSpPr>
      <p:sp>
        <p:nvSpPr>
          <p:cNvPr id="24" name="Google Shape;24;p5"/>
          <p:cNvSpPr/>
          <p:nvPr/>
        </p:nvSpPr>
        <p:spPr>
          <a:xfrm>
            <a:off x="1169100" y="7213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type="title"/>
          </p:nvPr>
        </p:nvSpPr>
        <p:spPr>
          <a:xfrm>
            <a:off x="533400" y="552450"/>
            <a:ext cx="2106600" cy="12576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26" name="Google Shape;26;p5"/>
          <p:cNvSpPr txBox="1"/>
          <p:nvPr>
            <p:ph idx="1" type="body"/>
          </p:nvPr>
        </p:nvSpPr>
        <p:spPr>
          <a:xfrm>
            <a:off x="3203050" y="1132549"/>
            <a:ext cx="5185200" cy="32658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
        <p:nvSpPr>
          <p:cNvPr id="27" name="Google Shape;27;p5"/>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8" name="Shape 28"/>
        <p:cNvGrpSpPr/>
        <p:nvPr/>
      </p:nvGrpSpPr>
      <p:grpSpPr>
        <a:xfrm>
          <a:off x="0" y="0"/>
          <a:ext cx="0" cy="0"/>
          <a:chOff x="0" y="0"/>
          <a:chExt cx="0" cy="0"/>
        </a:xfrm>
      </p:grpSpPr>
      <p:sp>
        <p:nvSpPr>
          <p:cNvPr id="29" name="Google Shape;29;p6"/>
          <p:cNvSpPr/>
          <p:nvPr/>
        </p:nvSpPr>
        <p:spPr>
          <a:xfrm>
            <a:off x="1169100" y="7213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6"/>
          <p:cNvSpPr txBox="1"/>
          <p:nvPr>
            <p:ph type="title"/>
          </p:nvPr>
        </p:nvSpPr>
        <p:spPr>
          <a:xfrm>
            <a:off x="533400" y="552450"/>
            <a:ext cx="2106600" cy="12576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31" name="Google Shape;31;p6"/>
          <p:cNvSpPr txBox="1"/>
          <p:nvPr>
            <p:ph idx="1" type="body"/>
          </p:nvPr>
        </p:nvSpPr>
        <p:spPr>
          <a:xfrm>
            <a:off x="3012775" y="1052499"/>
            <a:ext cx="2597400" cy="32439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2" name="Google Shape;32;p6"/>
          <p:cNvSpPr txBox="1"/>
          <p:nvPr>
            <p:ph idx="2" type="body"/>
          </p:nvPr>
        </p:nvSpPr>
        <p:spPr>
          <a:xfrm>
            <a:off x="5766774" y="1052499"/>
            <a:ext cx="2597400" cy="32439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sz="2000"/>
            </a:lvl1pPr>
            <a:lvl2pPr indent="-355600" lvl="1" marL="914400">
              <a:spcBef>
                <a:spcPts val="0"/>
              </a:spcBef>
              <a:spcAft>
                <a:spcPts val="0"/>
              </a:spcAft>
              <a:buSzPts val="2000"/>
              <a:buChar char="■"/>
              <a:defRPr sz="2000"/>
            </a:lvl2pPr>
            <a:lvl3pPr indent="-355600" lvl="2" marL="1371600">
              <a:spcBef>
                <a:spcPts val="0"/>
              </a:spcBef>
              <a:spcAft>
                <a:spcPts val="0"/>
              </a:spcAft>
              <a:buSzPts val="2000"/>
              <a:buChar char="▣"/>
              <a:defRPr sz="2000"/>
            </a:lvl3pPr>
            <a:lvl4pPr indent="-355600" lvl="3" marL="1828800">
              <a:spcBef>
                <a:spcPts val="0"/>
              </a:spcBef>
              <a:spcAft>
                <a:spcPts val="0"/>
              </a:spcAft>
              <a:buSzPts val="2000"/>
              <a:buChar char="●"/>
              <a:defRPr sz="2000"/>
            </a:lvl4pPr>
            <a:lvl5pPr indent="-355600" lvl="4" marL="2286000">
              <a:spcBef>
                <a:spcPts val="0"/>
              </a:spcBef>
              <a:spcAft>
                <a:spcPts val="0"/>
              </a:spcAft>
              <a:buSzPts val="2000"/>
              <a:buChar char="○"/>
              <a:defRPr sz="2000"/>
            </a:lvl5pPr>
            <a:lvl6pPr indent="-355600" lvl="5" marL="2743200">
              <a:spcBef>
                <a:spcPts val="0"/>
              </a:spcBef>
              <a:spcAft>
                <a:spcPts val="0"/>
              </a:spcAft>
              <a:buSzPts val="2000"/>
              <a:buChar char="■"/>
              <a:defRPr sz="2000"/>
            </a:lvl6pPr>
            <a:lvl7pPr indent="-355600" lvl="6" marL="3200400">
              <a:spcBef>
                <a:spcPts val="0"/>
              </a:spcBef>
              <a:spcAft>
                <a:spcPts val="0"/>
              </a:spcAft>
              <a:buSzPts val="2000"/>
              <a:buChar char="●"/>
              <a:defRPr sz="2000"/>
            </a:lvl7pPr>
            <a:lvl8pPr indent="-355600" lvl="7" marL="3657600">
              <a:spcBef>
                <a:spcPts val="0"/>
              </a:spcBef>
              <a:spcAft>
                <a:spcPts val="0"/>
              </a:spcAft>
              <a:buSzPts val="2000"/>
              <a:buChar char="○"/>
              <a:defRPr sz="2000"/>
            </a:lvl8pPr>
            <a:lvl9pPr indent="-355600" lvl="8" marL="4114800">
              <a:spcBef>
                <a:spcPts val="0"/>
              </a:spcBef>
              <a:spcAft>
                <a:spcPts val="0"/>
              </a:spcAft>
              <a:buSzPts val="2000"/>
              <a:buChar char="■"/>
              <a:defRPr sz="2000"/>
            </a:lvl9pPr>
          </a:lstStyle>
          <a:p/>
        </p:txBody>
      </p:sp>
      <p:sp>
        <p:nvSpPr>
          <p:cNvPr id="33" name="Google Shape;33;p6"/>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4" name="Shape 34"/>
        <p:cNvGrpSpPr/>
        <p:nvPr/>
      </p:nvGrpSpPr>
      <p:grpSpPr>
        <a:xfrm>
          <a:off x="0" y="0"/>
          <a:ext cx="0" cy="0"/>
          <a:chOff x="0" y="0"/>
          <a:chExt cx="0" cy="0"/>
        </a:xfrm>
      </p:grpSpPr>
      <p:sp>
        <p:nvSpPr>
          <p:cNvPr id="35" name="Google Shape;35;p7"/>
          <p:cNvSpPr/>
          <p:nvPr/>
        </p:nvSpPr>
        <p:spPr>
          <a:xfrm>
            <a:off x="1169100" y="7213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7"/>
          <p:cNvSpPr txBox="1"/>
          <p:nvPr>
            <p:ph type="title"/>
          </p:nvPr>
        </p:nvSpPr>
        <p:spPr>
          <a:xfrm>
            <a:off x="533400" y="552450"/>
            <a:ext cx="2106600" cy="1257600"/>
          </a:xfrm>
          <a:prstGeom prst="rect">
            <a:avLst/>
          </a:prstGeom>
        </p:spPr>
        <p:txBody>
          <a:bodyPr anchorCtr="0" anchor="t" bIns="91425" lIns="91425" spcFirstLastPara="1" rIns="91425" wrap="square" tIns="91425">
            <a:sp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37" name="Google Shape;37;p7"/>
          <p:cNvSpPr txBox="1"/>
          <p:nvPr>
            <p:ph idx="1" type="body"/>
          </p:nvPr>
        </p:nvSpPr>
        <p:spPr>
          <a:xfrm>
            <a:off x="1442950" y="1551975"/>
            <a:ext cx="2233500" cy="3014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 name="Google Shape;38;p7"/>
          <p:cNvSpPr txBox="1"/>
          <p:nvPr>
            <p:ph idx="2" type="body"/>
          </p:nvPr>
        </p:nvSpPr>
        <p:spPr>
          <a:xfrm>
            <a:off x="3790875" y="1551975"/>
            <a:ext cx="2233500" cy="3014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9" name="Google Shape;39;p7"/>
          <p:cNvSpPr txBox="1"/>
          <p:nvPr>
            <p:ph idx="3" type="body"/>
          </p:nvPr>
        </p:nvSpPr>
        <p:spPr>
          <a:xfrm>
            <a:off x="6138800" y="1551975"/>
            <a:ext cx="2233500" cy="30147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0" name="Google Shape;40;p7"/>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8"/>
          <p:cNvSpPr/>
          <p:nvPr/>
        </p:nvSpPr>
        <p:spPr>
          <a:xfrm>
            <a:off x="1169100" y="7213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txBox="1"/>
          <p:nvPr>
            <p:ph type="title"/>
          </p:nvPr>
        </p:nvSpPr>
        <p:spPr>
          <a:xfrm>
            <a:off x="533400" y="552450"/>
            <a:ext cx="2106600" cy="12576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4" name="Google Shape;44;p8"/>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p:nvPr/>
        </p:nvSpPr>
        <p:spPr>
          <a:xfrm>
            <a:off x="1169100" y="548550"/>
            <a:ext cx="7441500" cy="38736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idx="1" type="body"/>
          </p:nvPr>
        </p:nvSpPr>
        <p:spPr>
          <a:xfrm>
            <a:off x="533400" y="4223925"/>
            <a:ext cx="2106600" cy="519600"/>
          </a:xfrm>
          <a:prstGeom prst="rect">
            <a:avLst/>
          </a:prstGeom>
          <a:ln cap="flat" cmpd="sng" w="76200">
            <a:solidFill>
              <a:srgbClr val="FF0000"/>
            </a:solidFill>
            <a:prstDash val="solid"/>
            <a:miter lim="8000"/>
            <a:headEnd len="sm" w="sm" type="none"/>
            <a:tailEnd len="sm" w="sm" type="none"/>
          </a:ln>
        </p:spPr>
        <p:txBody>
          <a:bodyPr anchorCtr="0" anchor="b" bIns="91425" lIns="91425" spcFirstLastPara="1" rIns="91425" wrap="square" tIns="91425">
            <a:noAutofit/>
          </a:bodyPr>
          <a:lstStyle>
            <a:lvl1pPr indent="-228600" lvl="0" marL="457200">
              <a:spcBef>
                <a:spcPts val="360"/>
              </a:spcBef>
              <a:spcAft>
                <a:spcPts val="0"/>
              </a:spcAft>
              <a:buSzPts val="1800"/>
              <a:buNone/>
              <a:defRPr sz="1800">
                <a:solidFill>
                  <a:srgbClr val="999999"/>
                </a:solidFill>
              </a:defRPr>
            </a:lvl1pPr>
          </a:lstStyle>
          <a:p/>
        </p:txBody>
      </p:sp>
      <p:sp>
        <p:nvSpPr>
          <p:cNvPr id="48" name="Google Shape;48;p9"/>
          <p:cNvSpPr txBox="1"/>
          <p:nvPr>
            <p:ph idx="12" type="sldNum"/>
          </p:nvPr>
        </p:nvSpPr>
        <p:spPr>
          <a:xfrm>
            <a:off x="533409" y="3803514"/>
            <a:ext cx="548700" cy="393600"/>
          </a:xfrm>
          <a:prstGeom prst="rect">
            <a:avLst/>
          </a:prstGeom>
        </p:spPr>
        <p:txBody>
          <a:bodyPr anchorCtr="0" anchor="t" bIns="91425" lIns="91425" spcFirstLastPara="1" rIns="91425" wrap="square" tIns="91425">
            <a:noAutofit/>
          </a:bodyPr>
          <a:lstStyle>
            <a:lvl1pPr lvl="0">
              <a:buNone/>
              <a:defRPr>
                <a:solidFill>
                  <a:srgbClr val="999999"/>
                </a:solidFill>
              </a:defRPr>
            </a:lvl1pPr>
            <a:lvl2pPr lvl="1">
              <a:buNone/>
              <a:defRPr>
                <a:solidFill>
                  <a:srgbClr val="999999"/>
                </a:solidFill>
              </a:defRPr>
            </a:lvl2pPr>
            <a:lvl3pPr lvl="2">
              <a:buNone/>
              <a:defRPr>
                <a:solidFill>
                  <a:srgbClr val="999999"/>
                </a:solidFill>
              </a:defRPr>
            </a:lvl3pPr>
            <a:lvl4pPr lvl="3">
              <a:buNone/>
              <a:defRPr>
                <a:solidFill>
                  <a:srgbClr val="999999"/>
                </a:solidFill>
              </a:defRPr>
            </a:lvl4pPr>
            <a:lvl5pPr lvl="4">
              <a:buNone/>
              <a:defRPr>
                <a:solidFill>
                  <a:srgbClr val="999999"/>
                </a:solidFill>
              </a:defRPr>
            </a:lvl5pPr>
            <a:lvl6pPr lvl="5">
              <a:buNone/>
              <a:defRPr>
                <a:solidFill>
                  <a:srgbClr val="999999"/>
                </a:solidFill>
              </a:defRPr>
            </a:lvl6pPr>
            <a:lvl7pPr lvl="6">
              <a:buNone/>
              <a:defRPr>
                <a:solidFill>
                  <a:srgbClr val="999999"/>
                </a:solidFill>
              </a:defRPr>
            </a:lvl7pPr>
            <a:lvl8pPr lvl="7">
              <a:buNone/>
              <a:defRPr>
                <a:solidFill>
                  <a:srgbClr val="999999"/>
                </a:solidFill>
              </a:defRPr>
            </a:lvl8pPr>
            <a:lvl9pPr lvl="8">
              <a:buNone/>
              <a:defRPr>
                <a:solidFill>
                  <a:srgbClr val="999999"/>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0"/>
          <p:cNvSpPr/>
          <p:nvPr/>
        </p:nvSpPr>
        <p:spPr>
          <a:xfrm>
            <a:off x="521275" y="560700"/>
            <a:ext cx="8036100" cy="4022100"/>
          </a:xfrm>
          <a:prstGeom prst="rect">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0"/>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3400" y="552450"/>
            <a:ext cx="2106600" cy="1257600"/>
          </a:xfrm>
          <a:prstGeom prst="rect">
            <a:avLst/>
          </a:prstGeom>
          <a:noFill/>
          <a:ln cap="flat" cmpd="sng" w="76200">
            <a:solidFill>
              <a:schemeClr val="accent1"/>
            </a:solidFill>
            <a:prstDash val="solid"/>
            <a:miter lim="8000"/>
            <a:headEnd len="sm" w="sm" type="none"/>
            <a:tailEnd len="sm" w="sm" type="none"/>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1pPr>
            <a:lvl2pPr lvl="1">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2pPr>
            <a:lvl3pPr lvl="2">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3pPr>
            <a:lvl4pPr lvl="3">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4pPr>
            <a:lvl5pPr lvl="4">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5pPr>
            <a:lvl6pPr lvl="5">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6pPr>
            <a:lvl7pPr lvl="6">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7pPr>
            <a:lvl8pPr lvl="7">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8pPr>
            <a:lvl9pPr lvl="8">
              <a:spcBef>
                <a:spcPts val="0"/>
              </a:spcBef>
              <a:spcAft>
                <a:spcPts val="0"/>
              </a:spcAft>
              <a:buClr>
                <a:schemeClr val="dk2"/>
              </a:buClr>
              <a:buSzPts val="2400"/>
              <a:buFont typeface="Roboto Slab"/>
              <a:buNone/>
              <a:defRPr sz="2400">
                <a:solidFill>
                  <a:schemeClr val="dk2"/>
                </a:solidFill>
                <a:latin typeface="Roboto Slab"/>
                <a:ea typeface="Roboto Slab"/>
                <a:cs typeface="Roboto Slab"/>
                <a:sym typeface="Roboto Slab"/>
              </a:defRPr>
            </a:lvl9pPr>
          </a:lstStyle>
          <a:p/>
        </p:txBody>
      </p:sp>
      <p:sp>
        <p:nvSpPr>
          <p:cNvPr id="7" name="Google Shape;7;p1"/>
          <p:cNvSpPr txBox="1"/>
          <p:nvPr>
            <p:ph idx="1" type="body"/>
          </p:nvPr>
        </p:nvSpPr>
        <p:spPr>
          <a:xfrm>
            <a:off x="3203050" y="1132549"/>
            <a:ext cx="5185200" cy="32658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rgbClr val="999999"/>
              </a:buClr>
              <a:buSzPts val="2400"/>
              <a:buFont typeface="Georgia"/>
              <a:buChar char="□"/>
              <a:defRPr sz="2400">
                <a:solidFill>
                  <a:srgbClr val="111111"/>
                </a:solidFill>
                <a:latin typeface="Georgia"/>
                <a:ea typeface="Georgia"/>
                <a:cs typeface="Georgia"/>
                <a:sym typeface="Georgia"/>
              </a:defRPr>
            </a:lvl1pPr>
            <a:lvl2pPr indent="-381000" lvl="1" marL="9144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2pPr>
            <a:lvl3pPr indent="-381000" lvl="2" marL="13716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3pPr>
            <a:lvl4pPr indent="-381000" lvl="3" marL="18288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4pPr>
            <a:lvl5pPr indent="-381000" lvl="4" marL="22860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5pPr>
            <a:lvl6pPr indent="-381000" lvl="5" marL="27432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6pPr>
            <a:lvl7pPr indent="-381000" lvl="6" marL="32004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7pPr>
            <a:lvl8pPr indent="-381000" lvl="7" marL="36576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8pPr>
            <a:lvl9pPr indent="-381000" lvl="8" marL="4114800">
              <a:spcBef>
                <a:spcPts val="0"/>
              </a:spcBef>
              <a:spcAft>
                <a:spcPts val="0"/>
              </a:spcAft>
              <a:buClr>
                <a:srgbClr val="999999"/>
              </a:buClr>
              <a:buSzPts val="2400"/>
              <a:buFont typeface="Georgia"/>
              <a:buChar char="■"/>
              <a:defRPr sz="2400">
                <a:solidFill>
                  <a:srgbClr val="111111"/>
                </a:solidFill>
                <a:latin typeface="Georgia"/>
                <a:ea typeface="Georgia"/>
                <a:cs typeface="Georgia"/>
                <a:sym typeface="Georgia"/>
              </a:defRPr>
            </a:lvl9pPr>
          </a:lstStyle>
          <a:p/>
        </p:txBody>
      </p:sp>
      <p:sp>
        <p:nvSpPr>
          <p:cNvPr id="8" name="Google Shape;8;p1"/>
          <p:cNvSpPr txBox="1"/>
          <p:nvPr>
            <p:ph idx="12" type="sldNum"/>
          </p:nvPr>
        </p:nvSpPr>
        <p:spPr>
          <a:xfrm>
            <a:off x="76209" y="4698864"/>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B7B7B7"/>
                </a:solidFill>
                <a:latin typeface="Roboto Slab"/>
                <a:ea typeface="Roboto Slab"/>
                <a:cs typeface="Roboto Slab"/>
                <a:sym typeface="Roboto Slab"/>
              </a:defRPr>
            </a:lvl1pPr>
            <a:lvl2pPr lvl="1">
              <a:buNone/>
              <a:defRPr sz="1300">
                <a:solidFill>
                  <a:srgbClr val="B7B7B7"/>
                </a:solidFill>
                <a:latin typeface="Roboto Slab"/>
                <a:ea typeface="Roboto Slab"/>
                <a:cs typeface="Roboto Slab"/>
                <a:sym typeface="Roboto Slab"/>
              </a:defRPr>
            </a:lvl2pPr>
            <a:lvl3pPr lvl="2">
              <a:buNone/>
              <a:defRPr sz="1300">
                <a:solidFill>
                  <a:srgbClr val="B7B7B7"/>
                </a:solidFill>
                <a:latin typeface="Roboto Slab"/>
                <a:ea typeface="Roboto Slab"/>
                <a:cs typeface="Roboto Slab"/>
                <a:sym typeface="Roboto Slab"/>
              </a:defRPr>
            </a:lvl3pPr>
            <a:lvl4pPr lvl="3">
              <a:buNone/>
              <a:defRPr sz="1300">
                <a:solidFill>
                  <a:srgbClr val="B7B7B7"/>
                </a:solidFill>
                <a:latin typeface="Roboto Slab"/>
                <a:ea typeface="Roboto Slab"/>
                <a:cs typeface="Roboto Slab"/>
                <a:sym typeface="Roboto Slab"/>
              </a:defRPr>
            </a:lvl4pPr>
            <a:lvl5pPr lvl="4">
              <a:buNone/>
              <a:defRPr sz="1300">
                <a:solidFill>
                  <a:srgbClr val="B7B7B7"/>
                </a:solidFill>
                <a:latin typeface="Roboto Slab"/>
                <a:ea typeface="Roboto Slab"/>
                <a:cs typeface="Roboto Slab"/>
                <a:sym typeface="Roboto Slab"/>
              </a:defRPr>
            </a:lvl5pPr>
            <a:lvl6pPr lvl="5">
              <a:buNone/>
              <a:defRPr sz="1300">
                <a:solidFill>
                  <a:srgbClr val="B7B7B7"/>
                </a:solidFill>
                <a:latin typeface="Roboto Slab"/>
                <a:ea typeface="Roboto Slab"/>
                <a:cs typeface="Roboto Slab"/>
                <a:sym typeface="Roboto Slab"/>
              </a:defRPr>
            </a:lvl6pPr>
            <a:lvl7pPr lvl="6">
              <a:buNone/>
              <a:defRPr sz="1300">
                <a:solidFill>
                  <a:srgbClr val="B7B7B7"/>
                </a:solidFill>
                <a:latin typeface="Roboto Slab"/>
                <a:ea typeface="Roboto Slab"/>
                <a:cs typeface="Roboto Slab"/>
                <a:sym typeface="Roboto Slab"/>
              </a:defRPr>
            </a:lvl7pPr>
            <a:lvl8pPr lvl="7">
              <a:buNone/>
              <a:defRPr sz="1300">
                <a:solidFill>
                  <a:srgbClr val="B7B7B7"/>
                </a:solidFill>
                <a:latin typeface="Roboto Slab"/>
                <a:ea typeface="Roboto Slab"/>
                <a:cs typeface="Roboto Slab"/>
                <a:sym typeface="Roboto Slab"/>
              </a:defRPr>
            </a:lvl8pPr>
            <a:lvl9pPr lvl="8">
              <a:buNone/>
              <a:defRPr sz="1300">
                <a:solidFill>
                  <a:srgbClr val="B7B7B7"/>
                </a:solidFill>
                <a:latin typeface="Roboto Slab"/>
                <a:ea typeface="Roboto Slab"/>
                <a:cs typeface="Roboto Slab"/>
                <a:sym typeface="Roboto Slab"/>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0" Type="http://schemas.openxmlformats.org/officeDocument/2006/relationships/hyperlink" Target="https://academic.oup.com/bfg/article/18/1/1/5181442" TargetMode="External"/><Relationship Id="rId11" Type="http://schemas.openxmlformats.org/officeDocument/2006/relationships/hyperlink" Target="https://pmc.ncbi.nlm.nih.gov/articles/PMC11017571/" TargetMode="External"/><Relationship Id="rId10" Type="http://schemas.openxmlformats.org/officeDocument/2006/relationships/hyperlink" Target="https://biotech.wisc.edu/brc/services/genome-assembly/" TargetMode="External"/><Relationship Id="rId21" Type="http://schemas.openxmlformats.org/officeDocument/2006/relationships/hyperlink" Target="https://www.sciencedirect.com/org/science/article/pii/S1875036218000031" TargetMode="External"/><Relationship Id="rId13" Type="http://schemas.openxmlformats.org/officeDocument/2006/relationships/hyperlink" Target="https://doi.org/10.1111/1755-0998.13252" TargetMode="External"/><Relationship Id="rId12" Type="http://schemas.openxmlformats.org/officeDocument/2006/relationships/hyperlink" Target="https://pmc.ncbi.nlm.nih.gov/articles/PMC2680276/" TargetMode="External"/><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bioinformaticsworkbook.org/dataAnalysis/GenomeAssembly/Intro_GenomeAssembly.html#gsc.tab=0" TargetMode="External"/><Relationship Id="rId4" Type="http://schemas.openxmlformats.org/officeDocument/2006/relationships/hyperlink" Target="https://www.bioinformatics.babraham.ac.uk/projects/fastqc/" TargetMode="External"/><Relationship Id="rId9" Type="http://schemas.openxmlformats.org/officeDocument/2006/relationships/hyperlink" Target="https://doi.org/10.3389/fmicb.2020.577497" TargetMode="External"/><Relationship Id="rId15" Type="http://schemas.openxmlformats.org/officeDocument/2006/relationships/hyperlink" Target="https://www.cd-genomics.com/resource-genome-assembly-overview-tools.html" TargetMode="External"/><Relationship Id="rId14" Type="http://schemas.openxmlformats.org/officeDocument/2006/relationships/hyperlink" Target="https://pmc.ncbi.nlm.nih.gov/articles/PMC4932478/" TargetMode="External"/><Relationship Id="rId17" Type="http://schemas.openxmlformats.org/officeDocument/2006/relationships/hyperlink" Target="https://www.sciencedirect.com/topics/agricultural-and-biological-sciences/genome-assembly" TargetMode="External"/><Relationship Id="rId16" Type="http://schemas.openxmlformats.org/officeDocument/2006/relationships/hyperlink" Target="https://www.pacb.com/blog/beyond-contiguity/" TargetMode="External"/><Relationship Id="rId5" Type="http://schemas.openxmlformats.org/officeDocument/2006/relationships/hyperlink" Target="https://doi.org/10.1111/eva.12178" TargetMode="External"/><Relationship Id="rId19" Type="http://schemas.openxmlformats.org/officeDocument/2006/relationships/hyperlink" Target="https://www.reddit.com/r/bioinformatics/comments/rtayb/how_difficult_is_it_to_assemble_and_annotate_a/" TargetMode="External"/><Relationship Id="rId6" Type="http://schemas.openxmlformats.org/officeDocument/2006/relationships/hyperlink" Target="https://pmc.ncbi.nlm.nih.gov/articles/PMC5850084/" TargetMode="External"/><Relationship Id="rId18" Type="http://schemas.openxmlformats.org/officeDocument/2006/relationships/hyperlink" Target="https://academic.oup.com/bioinformatics/article/31/19/3210/211866" TargetMode="External"/><Relationship Id="rId7" Type="http://schemas.openxmlformats.org/officeDocument/2006/relationships/hyperlink" Target="https://www.cd-genomics.com/resource-genome-assembly-bioinformatics-definition-methods-case.html" TargetMode="External"/><Relationship Id="rId8" Type="http://schemas.openxmlformats.org/officeDocument/2006/relationships/hyperlink" Target="https://pmc.ncbi.nlm.nih.gov/articles/PMC423159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1"/>
          <p:cNvSpPr txBox="1"/>
          <p:nvPr>
            <p:ph type="ctrTitle"/>
          </p:nvPr>
        </p:nvSpPr>
        <p:spPr>
          <a:xfrm>
            <a:off x="533400" y="2026150"/>
            <a:ext cx="5041200" cy="256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300"/>
          </a:p>
          <a:p>
            <a:pPr indent="0" lvl="0" marL="0" rtl="0" algn="l">
              <a:spcBef>
                <a:spcPts val="0"/>
              </a:spcBef>
              <a:spcAft>
                <a:spcPts val="0"/>
              </a:spcAft>
              <a:buNone/>
            </a:pPr>
            <a:r>
              <a:t/>
            </a:r>
            <a:endParaRPr sz="7300"/>
          </a:p>
          <a:p>
            <a:pPr indent="0" lvl="0" marL="0" rtl="0" algn="l">
              <a:spcBef>
                <a:spcPts val="0"/>
              </a:spcBef>
              <a:spcAft>
                <a:spcPts val="0"/>
              </a:spcAft>
              <a:buNone/>
            </a:pPr>
            <a:r>
              <a:rPr lang="en" sz="7300"/>
              <a:t>Genome Assembly</a:t>
            </a:r>
            <a:endParaRPr/>
          </a:p>
        </p:txBody>
      </p:sp>
      <p:sp>
        <p:nvSpPr>
          <p:cNvPr id="57" name="Google Shape;57;p11"/>
          <p:cNvSpPr txBox="1"/>
          <p:nvPr/>
        </p:nvSpPr>
        <p:spPr>
          <a:xfrm>
            <a:off x="1007625" y="4610940"/>
            <a:ext cx="6216300" cy="2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11111"/>
                </a:solidFill>
                <a:latin typeface="Georgia"/>
                <a:ea typeface="Georgia"/>
                <a:cs typeface="Georgia"/>
                <a:sym typeface="Georgia"/>
              </a:rPr>
              <a:t>Núria Hernando</a:t>
            </a:r>
            <a:endParaRPr sz="1000">
              <a:solidFill>
                <a:srgbClr val="11111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2"/>
          <p:cNvSpPr txBox="1"/>
          <p:nvPr>
            <p:ph type="title"/>
          </p:nvPr>
        </p:nvSpPr>
        <p:spPr>
          <a:xfrm>
            <a:off x="533400" y="400050"/>
            <a:ext cx="210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63" name="Google Shape;63;p12"/>
          <p:cNvSpPr txBox="1"/>
          <p:nvPr/>
        </p:nvSpPr>
        <p:spPr>
          <a:xfrm>
            <a:off x="1582625" y="1268936"/>
            <a:ext cx="5767500" cy="1655400"/>
          </a:xfrm>
          <a:prstGeom prst="rect">
            <a:avLst/>
          </a:prstGeom>
          <a:noFill/>
          <a:ln>
            <a:noFill/>
          </a:ln>
        </p:spPr>
        <p:txBody>
          <a:bodyPr anchorCtr="0" anchor="t" bIns="91425" lIns="91425" spcFirstLastPara="1" rIns="91425" wrap="square" tIns="91425">
            <a:noAutofit/>
          </a:bodyPr>
          <a:lstStyle/>
          <a:p>
            <a:pPr indent="-349250" lvl="0" marL="457200" rtl="0" algn="l">
              <a:lnSpc>
                <a:spcPct val="150000"/>
              </a:lnSpc>
              <a:spcBef>
                <a:spcPts val="60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Key concepts of assembly</a:t>
            </a:r>
            <a:endParaRPr sz="1900">
              <a:solidFill>
                <a:srgbClr val="1D1D1B"/>
              </a:solidFill>
              <a:latin typeface="Georgia"/>
              <a:ea typeface="Georgia"/>
              <a:cs typeface="Georgia"/>
              <a:sym typeface="Georgia"/>
            </a:endParaRPr>
          </a:p>
          <a:p>
            <a:pPr indent="-349250" lvl="0" marL="457200" rtl="0" algn="l">
              <a:lnSpc>
                <a:spcPct val="150000"/>
              </a:lnSpc>
              <a:spcBef>
                <a:spcPts val="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Genome assembly</a:t>
            </a:r>
            <a:endParaRPr sz="1900">
              <a:solidFill>
                <a:srgbClr val="1D1D1B"/>
              </a:solidFill>
              <a:latin typeface="Georgia"/>
              <a:ea typeface="Georgia"/>
              <a:cs typeface="Georgia"/>
              <a:sym typeface="Georgia"/>
            </a:endParaRPr>
          </a:p>
          <a:p>
            <a:pPr indent="-349250" lvl="0" marL="457200" rtl="0" algn="l">
              <a:lnSpc>
                <a:spcPct val="150000"/>
              </a:lnSpc>
              <a:spcBef>
                <a:spcPts val="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Short VS long reads</a:t>
            </a:r>
            <a:endParaRPr sz="1900">
              <a:solidFill>
                <a:srgbClr val="1D1D1B"/>
              </a:solidFill>
              <a:latin typeface="Georgia"/>
              <a:ea typeface="Georgia"/>
              <a:cs typeface="Georgia"/>
              <a:sym typeface="Georgia"/>
            </a:endParaRPr>
          </a:p>
          <a:p>
            <a:pPr indent="-349250" lvl="0" marL="457200" rtl="0" algn="l">
              <a:lnSpc>
                <a:spcPct val="150000"/>
              </a:lnSpc>
              <a:spcBef>
                <a:spcPts val="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Workflow</a:t>
            </a:r>
            <a:endParaRPr sz="1900">
              <a:solidFill>
                <a:srgbClr val="1D1D1B"/>
              </a:solidFill>
              <a:latin typeface="Georgia"/>
              <a:ea typeface="Georgia"/>
              <a:cs typeface="Georgia"/>
              <a:sym typeface="Georgia"/>
            </a:endParaRPr>
          </a:p>
          <a:p>
            <a:pPr indent="-349250" lvl="0" marL="457200" rtl="0" algn="l">
              <a:lnSpc>
                <a:spcPct val="150000"/>
              </a:lnSpc>
              <a:spcBef>
                <a:spcPts val="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Future work</a:t>
            </a:r>
            <a:endParaRPr sz="1900">
              <a:solidFill>
                <a:srgbClr val="1D1D1B"/>
              </a:solidFill>
              <a:latin typeface="Georgia"/>
              <a:ea typeface="Georgia"/>
              <a:cs typeface="Georgia"/>
              <a:sym typeface="Georgia"/>
            </a:endParaRPr>
          </a:p>
          <a:p>
            <a:pPr indent="-349250" lvl="0" marL="457200" rtl="0" algn="l">
              <a:lnSpc>
                <a:spcPct val="150000"/>
              </a:lnSpc>
              <a:spcBef>
                <a:spcPts val="0"/>
              </a:spcBef>
              <a:spcAft>
                <a:spcPts val="0"/>
              </a:spcAft>
              <a:buClr>
                <a:srgbClr val="1D1D1B"/>
              </a:buClr>
              <a:buSzPts val="1900"/>
              <a:buFont typeface="Georgia"/>
              <a:buAutoNum type="arabicPeriod"/>
            </a:pPr>
            <a:r>
              <a:rPr lang="en" sz="1900">
                <a:solidFill>
                  <a:srgbClr val="1D1D1B"/>
                </a:solidFill>
                <a:latin typeface="Georgia"/>
                <a:ea typeface="Georgia"/>
                <a:cs typeface="Georgia"/>
                <a:sym typeface="Georgia"/>
              </a:rPr>
              <a:t>Bibliography</a:t>
            </a:r>
            <a:endParaRPr sz="1900">
              <a:solidFill>
                <a:srgbClr val="1D1D1B"/>
              </a:solidFill>
              <a:latin typeface="Georgia"/>
              <a:ea typeface="Georgia"/>
              <a:cs typeface="Georgia"/>
              <a:sym typeface="Georgia"/>
            </a:endParaRPr>
          </a:p>
        </p:txBody>
      </p:sp>
      <p:sp>
        <p:nvSpPr>
          <p:cNvPr id="64" name="Google Shape;64;p12"/>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ctrTitle"/>
          </p:nvPr>
        </p:nvSpPr>
        <p:spPr>
          <a:xfrm>
            <a:off x="533400" y="3372150"/>
            <a:ext cx="71457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a:solidFill>
                  <a:srgbClr val="111111"/>
                </a:solidFill>
              </a:rPr>
              <a:t> 1. </a:t>
            </a:r>
            <a:r>
              <a:rPr lang="en"/>
              <a:t>Key concepts of assembly</a:t>
            </a:r>
            <a:endParaRPr/>
          </a:p>
        </p:txBody>
      </p:sp>
      <p:sp>
        <p:nvSpPr>
          <p:cNvPr id="70" name="Google Shape;70;p13"/>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533400" y="552450"/>
            <a:ext cx="2106600" cy="1293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Let’s review some concepts</a:t>
            </a:r>
            <a:endParaRPr/>
          </a:p>
        </p:txBody>
      </p:sp>
      <p:sp>
        <p:nvSpPr>
          <p:cNvPr id="76" name="Google Shape;76;p14"/>
          <p:cNvSpPr txBox="1"/>
          <p:nvPr>
            <p:ph idx="1" type="body"/>
          </p:nvPr>
        </p:nvSpPr>
        <p:spPr>
          <a:xfrm>
            <a:off x="1434850" y="2000250"/>
            <a:ext cx="2316900" cy="105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Contigs</a:t>
            </a:r>
            <a:endParaRPr sz="1300">
              <a:solidFill>
                <a:srgbClr val="FFFFFF"/>
              </a:solidFill>
              <a:highlight>
                <a:srgbClr val="FF0000"/>
              </a:highlight>
            </a:endParaRPr>
          </a:p>
          <a:p>
            <a:pPr indent="0" lvl="0" marL="0" rtl="0" algn="l">
              <a:spcBef>
                <a:spcPts val="600"/>
              </a:spcBef>
              <a:spcAft>
                <a:spcPts val="0"/>
              </a:spcAft>
              <a:buNone/>
            </a:pPr>
            <a:r>
              <a:rPr lang="en" sz="1100"/>
              <a:t>Continuous reconstructed sequences.</a:t>
            </a:r>
            <a:endParaRPr sz="1100"/>
          </a:p>
        </p:txBody>
      </p:sp>
      <p:sp>
        <p:nvSpPr>
          <p:cNvPr id="77" name="Google Shape;77;p14"/>
          <p:cNvSpPr txBox="1"/>
          <p:nvPr>
            <p:ph idx="2" type="body"/>
          </p:nvPr>
        </p:nvSpPr>
        <p:spPr>
          <a:xfrm>
            <a:off x="3870350" y="2000250"/>
            <a:ext cx="2316900" cy="105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Scaffolds</a:t>
            </a:r>
            <a:endParaRPr b="1" sz="1300"/>
          </a:p>
          <a:p>
            <a:pPr indent="0" lvl="0" marL="0" rtl="0" algn="l">
              <a:spcBef>
                <a:spcPts val="600"/>
              </a:spcBef>
              <a:spcAft>
                <a:spcPts val="0"/>
              </a:spcAft>
              <a:buNone/>
            </a:pPr>
            <a:r>
              <a:rPr lang="en" sz="1100"/>
              <a:t>Two or more contigs separated by gaps.</a:t>
            </a:r>
            <a:endParaRPr sz="1100"/>
          </a:p>
        </p:txBody>
      </p:sp>
      <p:sp>
        <p:nvSpPr>
          <p:cNvPr id="78" name="Google Shape;78;p14"/>
          <p:cNvSpPr txBox="1"/>
          <p:nvPr>
            <p:ph idx="3" type="body"/>
          </p:nvPr>
        </p:nvSpPr>
        <p:spPr>
          <a:xfrm>
            <a:off x="6305849" y="2000250"/>
            <a:ext cx="2316900" cy="105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Gaps</a:t>
            </a:r>
            <a:endParaRPr b="1" sz="1300"/>
          </a:p>
          <a:p>
            <a:pPr indent="0" lvl="0" marL="0" rtl="0" algn="l">
              <a:spcBef>
                <a:spcPts val="600"/>
              </a:spcBef>
              <a:spcAft>
                <a:spcPts val="0"/>
              </a:spcAft>
              <a:buNone/>
            </a:pPr>
            <a:r>
              <a:rPr lang="en" sz="1100"/>
              <a:t>Unassembled or uncertain DNA regions.</a:t>
            </a:r>
            <a:endParaRPr sz="1100"/>
          </a:p>
          <a:p>
            <a:pPr indent="0" lvl="0" marL="0" rtl="0" algn="l">
              <a:spcBef>
                <a:spcPts val="600"/>
              </a:spcBef>
              <a:spcAft>
                <a:spcPts val="0"/>
              </a:spcAft>
              <a:buNone/>
            </a:pPr>
            <a:r>
              <a:t/>
            </a:r>
            <a:endParaRPr sz="1000"/>
          </a:p>
        </p:txBody>
      </p:sp>
      <p:sp>
        <p:nvSpPr>
          <p:cNvPr id="79" name="Google Shape;79;p14"/>
          <p:cNvSpPr txBox="1"/>
          <p:nvPr>
            <p:ph idx="1" type="body"/>
          </p:nvPr>
        </p:nvSpPr>
        <p:spPr>
          <a:xfrm>
            <a:off x="1434850" y="3403519"/>
            <a:ext cx="2316900" cy="1089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Metrics</a:t>
            </a:r>
            <a:endParaRPr b="1" sz="1300"/>
          </a:p>
          <a:p>
            <a:pPr indent="0" lvl="0" marL="0" rtl="0" algn="l">
              <a:spcBef>
                <a:spcPts val="600"/>
              </a:spcBef>
              <a:spcAft>
                <a:spcPts val="0"/>
              </a:spcAft>
              <a:buNone/>
            </a:pPr>
            <a:r>
              <a:rPr lang="en" sz="1100"/>
              <a:t>N50, size, coverage… </a:t>
            </a:r>
            <a:r>
              <a:rPr lang="en" sz="1100">
                <a:solidFill>
                  <a:srgbClr val="000000"/>
                </a:solidFill>
              </a:rPr>
              <a:t>They enable objective comparison of assembly quality across tools, datasets, or species.</a:t>
            </a:r>
            <a:endParaRPr sz="1100"/>
          </a:p>
        </p:txBody>
      </p:sp>
      <p:sp>
        <p:nvSpPr>
          <p:cNvPr id="80" name="Google Shape;80;p14"/>
          <p:cNvSpPr txBox="1"/>
          <p:nvPr>
            <p:ph idx="2" type="body"/>
          </p:nvPr>
        </p:nvSpPr>
        <p:spPr>
          <a:xfrm>
            <a:off x="3870350" y="3403519"/>
            <a:ext cx="2316900" cy="1089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Masking</a:t>
            </a:r>
            <a:endParaRPr b="1" sz="1300"/>
          </a:p>
          <a:p>
            <a:pPr indent="0" lvl="0" marL="0" rtl="0" algn="l">
              <a:spcBef>
                <a:spcPts val="600"/>
              </a:spcBef>
              <a:spcAft>
                <a:spcPts val="0"/>
              </a:spcAft>
              <a:buNone/>
            </a:pPr>
            <a:r>
              <a:rPr lang="en" sz="1100"/>
              <a:t>Converting DNA (o RNA) fragments in a way that’s </a:t>
            </a:r>
            <a:r>
              <a:rPr lang="en" sz="1100"/>
              <a:t>appropriate</a:t>
            </a:r>
            <a:r>
              <a:rPr lang="en" sz="1100"/>
              <a:t> for downstream analyses. </a:t>
            </a:r>
            <a:endParaRPr sz="1100"/>
          </a:p>
        </p:txBody>
      </p:sp>
      <p:sp>
        <p:nvSpPr>
          <p:cNvPr id="81" name="Google Shape;81;p14"/>
          <p:cNvSpPr txBox="1"/>
          <p:nvPr>
            <p:ph idx="3" type="body"/>
          </p:nvPr>
        </p:nvSpPr>
        <p:spPr>
          <a:xfrm>
            <a:off x="6305849" y="3403519"/>
            <a:ext cx="2316900" cy="1089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FFFFFF"/>
                </a:solidFill>
                <a:highlight>
                  <a:srgbClr val="FF0000"/>
                </a:highlight>
              </a:rPr>
              <a:t>Genome drafts</a:t>
            </a:r>
            <a:endParaRPr b="1" sz="1300"/>
          </a:p>
          <a:p>
            <a:pPr indent="0" lvl="0" marL="0" rtl="0" algn="l">
              <a:spcBef>
                <a:spcPts val="600"/>
              </a:spcBef>
              <a:spcAft>
                <a:spcPts val="0"/>
              </a:spcAft>
              <a:buNone/>
            </a:pPr>
            <a:r>
              <a:rPr lang="en" sz="1100"/>
              <a:t>Scaffolds+ unresolved regions</a:t>
            </a:r>
            <a:endParaRPr sz="1100"/>
          </a:p>
          <a:p>
            <a:pPr indent="0" lvl="0" marL="0" rtl="0" algn="l">
              <a:spcBef>
                <a:spcPts val="600"/>
              </a:spcBef>
              <a:spcAft>
                <a:spcPts val="0"/>
              </a:spcAft>
              <a:buNone/>
            </a:pPr>
            <a:r>
              <a:t/>
            </a:r>
            <a:endParaRPr sz="1000"/>
          </a:p>
        </p:txBody>
      </p:sp>
      <p:sp>
        <p:nvSpPr>
          <p:cNvPr id="82" name="Google Shape;82;p14"/>
          <p:cNvSpPr/>
          <p:nvPr/>
        </p:nvSpPr>
        <p:spPr>
          <a:xfrm>
            <a:off x="5376099" y="1824751"/>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sp>
        <p:nvSpPr>
          <p:cNvPr id="83" name="Google Shape;83;p14"/>
          <p:cNvSpPr/>
          <p:nvPr/>
        </p:nvSpPr>
        <p:spPr>
          <a:xfrm>
            <a:off x="5376099" y="3233375"/>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sp>
        <p:nvSpPr>
          <p:cNvPr id="84" name="Google Shape;84;p14"/>
          <p:cNvSpPr/>
          <p:nvPr/>
        </p:nvSpPr>
        <p:spPr>
          <a:xfrm>
            <a:off x="7927190" y="1824751"/>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sp>
        <p:nvSpPr>
          <p:cNvPr id="85" name="Google Shape;85;p14"/>
          <p:cNvSpPr/>
          <p:nvPr/>
        </p:nvSpPr>
        <p:spPr>
          <a:xfrm>
            <a:off x="7927190" y="3233375"/>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sp>
        <p:nvSpPr>
          <p:cNvPr id="86" name="Google Shape;86;p14"/>
          <p:cNvSpPr/>
          <p:nvPr/>
        </p:nvSpPr>
        <p:spPr>
          <a:xfrm>
            <a:off x="3112075" y="1824751"/>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sp>
        <p:nvSpPr>
          <p:cNvPr id="87" name="Google Shape;87;p14"/>
          <p:cNvSpPr/>
          <p:nvPr/>
        </p:nvSpPr>
        <p:spPr>
          <a:xfrm>
            <a:off x="3112075" y="3233375"/>
            <a:ext cx="513300" cy="482100"/>
          </a:xfrm>
          <a:prstGeom prst="rect">
            <a:avLst/>
          </a:prstGeom>
          <a:noFill/>
          <a:ln cap="flat" cmpd="sng" w="762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6000">
              <a:solidFill>
                <a:srgbClr val="111111"/>
              </a:solidFill>
              <a:latin typeface="Georgia"/>
              <a:ea typeface="Georgia"/>
              <a:cs typeface="Georgia"/>
              <a:sym typeface="Georgia"/>
            </a:endParaRPr>
          </a:p>
        </p:txBody>
      </p:sp>
      <p:grpSp>
        <p:nvGrpSpPr>
          <p:cNvPr id="88" name="Google Shape;88;p14"/>
          <p:cNvGrpSpPr/>
          <p:nvPr/>
        </p:nvGrpSpPr>
        <p:grpSpPr>
          <a:xfrm>
            <a:off x="8000118" y="3317449"/>
            <a:ext cx="367944" cy="314002"/>
            <a:chOff x="4556450" y="4963575"/>
            <a:chExt cx="548025" cy="498100"/>
          </a:xfrm>
        </p:grpSpPr>
        <p:sp>
          <p:nvSpPr>
            <p:cNvPr id="89" name="Google Shape;89;p14"/>
            <p:cNvSpPr/>
            <p:nvPr/>
          </p:nvSpPr>
          <p:spPr>
            <a:xfrm>
              <a:off x="4611850" y="5222350"/>
              <a:ext cx="436600" cy="239325"/>
            </a:xfrm>
            <a:custGeom>
              <a:rect b="b" l="l" r="r" t="t"/>
              <a:pathLst>
                <a:path extrusionOk="0" fill="none" h="9573" w="17464">
                  <a:moveTo>
                    <a:pt x="1" y="1"/>
                  </a:moveTo>
                  <a:lnTo>
                    <a:pt x="1" y="4677"/>
                  </a:lnTo>
                  <a:lnTo>
                    <a:pt x="8720" y="9572"/>
                  </a:lnTo>
                  <a:lnTo>
                    <a:pt x="17463" y="4677"/>
                  </a:lnTo>
                  <a:lnTo>
                    <a:pt x="17463" y="1"/>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4612475" y="4963575"/>
              <a:ext cx="435975" cy="125450"/>
            </a:xfrm>
            <a:custGeom>
              <a:rect b="b" l="l" r="r" t="t"/>
              <a:pathLst>
                <a:path extrusionOk="0" fill="none" h="5018" w="17439">
                  <a:moveTo>
                    <a:pt x="17438" y="5018"/>
                  </a:moveTo>
                  <a:lnTo>
                    <a:pt x="8671" y="1"/>
                  </a:lnTo>
                  <a:lnTo>
                    <a:pt x="0" y="5018"/>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4556450" y="5089000"/>
              <a:ext cx="274025" cy="225925"/>
            </a:xfrm>
            <a:custGeom>
              <a:rect b="b" l="l" r="r" t="t"/>
              <a:pathLst>
                <a:path extrusionOk="0" fill="none" h="9037" w="10961">
                  <a:moveTo>
                    <a:pt x="8720" y="9037"/>
                  </a:moveTo>
                  <a:lnTo>
                    <a:pt x="1" y="4068"/>
                  </a:lnTo>
                  <a:lnTo>
                    <a:pt x="2241" y="1"/>
                  </a:lnTo>
                  <a:lnTo>
                    <a:pt x="10960" y="4969"/>
                  </a:lnTo>
                  <a:lnTo>
                    <a:pt x="8720" y="9037"/>
                  </a:lnTo>
                  <a:close/>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4830450" y="5089000"/>
              <a:ext cx="274025" cy="225925"/>
            </a:xfrm>
            <a:custGeom>
              <a:rect b="b" l="l" r="r" t="t"/>
              <a:pathLst>
                <a:path extrusionOk="0" fill="none" h="9037" w="10961">
                  <a:moveTo>
                    <a:pt x="2241" y="9037"/>
                  </a:moveTo>
                  <a:lnTo>
                    <a:pt x="10960" y="4068"/>
                  </a:lnTo>
                  <a:lnTo>
                    <a:pt x="8719" y="1"/>
                  </a:lnTo>
                  <a:lnTo>
                    <a:pt x="0" y="4969"/>
                  </a:lnTo>
                  <a:lnTo>
                    <a:pt x="2241" y="9037"/>
                  </a:lnTo>
                  <a:close/>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4830450" y="5213225"/>
              <a:ext cx="25" cy="248450"/>
            </a:xfrm>
            <a:custGeom>
              <a:rect b="b" l="l" r="r" t="t"/>
              <a:pathLst>
                <a:path extrusionOk="0" fill="none" h="9938" w="1">
                  <a:moveTo>
                    <a:pt x="0" y="0"/>
                  </a:moveTo>
                  <a:lnTo>
                    <a:pt x="0" y="9937"/>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14"/>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pSp>
        <p:nvGrpSpPr>
          <p:cNvPr id="95" name="Google Shape;95;p14"/>
          <p:cNvGrpSpPr/>
          <p:nvPr/>
        </p:nvGrpSpPr>
        <p:grpSpPr>
          <a:xfrm>
            <a:off x="3238697" y="1907239"/>
            <a:ext cx="260068" cy="317140"/>
            <a:chOff x="596350" y="929175"/>
            <a:chExt cx="407950" cy="497475"/>
          </a:xfrm>
        </p:grpSpPr>
        <p:sp>
          <p:nvSpPr>
            <p:cNvPr id="96" name="Google Shape;96;p14"/>
            <p:cNvSpPr/>
            <p:nvPr/>
          </p:nvSpPr>
          <p:spPr>
            <a:xfrm>
              <a:off x="596350" y="953550"/>
              <a:ext cx="387250" cy="473100"/>
            </a:xfrm>
            <a:custGeom>
              <a:rect b="b" l="l" r="r" t="t"/>
              <a:pathLst>
                <a:path extrusionOk="0" fill="none" h="18924" w="1549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626775" y="929175"/>
              <a:ext cx="377525" cy="462775"/>
            </a:xfrm>
            <a:custGeom>
              <a:rect b="b" l="l" r="r" t="t"/>
              <a:pathLst>
                <a:path extrusionOk="0" fill="none" h="18511" w="15101">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688900" y="1256150"/>
              <a:ext cx="133975" cy="25"/>
            </a:xfrm>
            <a:custGeom>
              <a:rect b="b" l="l" r="r" t="t"/>
              <a:pathLst>
                <a:path extrusionOk="0" fill="none" h="1" w="5359">
                  <a:moveTo>
                    <a:pt x="5358" y="0"/>
                  </a:moveTo>
                  <a:lnTo>
                    <a:pt x="0"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688900" y="1201350"/>
              <a:ext cx="255750" cy="25"/>
            </a:xfrm>
            <a:custGeom>
              <a:rect b="b" l="l" r="r" t="t"/>
              <a:pathLst>
                <a:path extrusionOk="0" fill="none" h="1" w="10230">
                  <a:moveTo>
                    <a:pt x="10229" y="1"/>
                  </a:moveTo>
                  <a:lnTo>
                    <a:pt x="0" y="1"/>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688900" y="1145950"/>
              <a:ext cx="255750" cy="25"/>
            </a:xfrm>
            <a:custGeom>
              <a:rect b="b" l="l" r="r" t="t"/>
              <a:pathLst>
                <a:path extrusionOk="0" fill="none" h="1" w="10230">
                  <a:moveTo>
                    <a:pt x="10229" y="0"/>
                  </a:moveTo>
                  <a:lnTo>
                    <a:pt x="0"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688900" y="1090525"/>
              <a:ext cx="255750" cy="25"/>
            </a:xfrm>
            <a:custGeom>
              <a:rect b="b" l="l" r="r" t="t"/>
              <a:pathLst>
                <a:path extrusionOk="0" fill="none" h="1" w="10230">
                  <a:moveTo>
                    <a:pt x="10229" y="1"/>
                  </a:moveTo>
                  <a:lnTo>
                    <a:pt x="0" y="1"/>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920250" y="929175"/>
              <a:ext cx="84050" cy="84050"/>
            </a:xfrm>
            <a:custGeom>
              <a:rect b="b" l="l" r="r" t="t"/>
              <a:pathLst>
                <a:path extrusionOk="0" fill="none" h="3362" w="3362">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14"/>
          <p:cNvGrpSpPr/>
          <p:nvPr/>
        </p:nvGrpSpPr>
        <p:grpSpPr>
          <a:xfrm>
            <a:off x="3238703" y="3341663"/>
            <a:ext cx="260068" cy="265519"/>
            <a:chOff x="3951850" y="2985350"/>
            <a:chExt cx="407950" cy="416500"/>
          </a:xfrm>
        </p:grpSpPr>
        <p:sp>
          <p:nvSpPr>
            <p:cNvPr id="104" name="Google Shape;104;p14"/>
            <p:cNvSpPr/>
            <p:nvPr/>
          </p:nvSpPr>
          <p:spPr>
            <a:xfrm>
              <a:off x="3951850" y="2985350"/>
              <a:ext cx="314800" cy="314825"/>
            </a:xfrm>
            <a:custGeom>
              <a:rect b="b" l="l" r="r" t="t"/>
              <a:pathLst>
                <a:path extrusionOk="0" fill="none" h="12593" w="12592">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3988375" y="3021875"/>
              <a:ext cx="241750" cy="241750"/>
            </a:xfrm>
            <a:custGeom>
              <a:rect b="b" l="l" r="r" t="t"/>
              <a:pathLst>
                <a:path extrusionOk="0" fill="none" h="9670" w="967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4024300" y="3058425"/>
              <a:ext cx="84650" cy="84650"/>
            </a:xfrm>
            <a:custGeom>
              <a:rect b="b" l="l" r="r" t="t"/>
              <a:pathLst>
                <a:path extrusionOk="0" fill="none" h="3386" w="3386">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4205750" y="3248375"/>
              <a:ext cx="154050" cy="153475"/>
            </a:xfrm>
            <a:custGeom>
              <a:rect b="b" l="l" r="r" t="t"/>
              <a:pathLst>
                <a:path extrusionOk="0" fill="none" h="6139" w="6162">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 name="Google Shape;108;p14"/>
          <p:cNvSpPr/>
          <p:nvPr/>
        </p:nvSpPr>
        <p:spPr>
          <a:xfrm>
            <a:off x="5496284" y="1938087"/>
            <a:ext cx="255430" cy="255430"/>
          </a:xfrm>
          <a:custGeom>
            <a:rect b="b" l="l" r="r" t="t"/>
            <a:pathLst>
              <a:path extrusionOk="0" fill="none" h="16027" w="16027">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8053414" y="1935381"/>
            <a:ext cx="260849" cy="260865"/>
          </a:xfrm>
          <a:custGeom>
            <a:rect b="b" l="l" r="r" t="t"/>
            <a:pathLst>
              <a:path extrusionOk="0" fill="none" h="16368" w="16367">
                <a:moveTo>
                  <a:pt x="16074" y="4385"/>
                </a:moveTo>
                <a:lnTo>
                  <a:pt x="11983" y="293"/>
                </a:lnTo>
                <a:lnTo>
                  <a:pt x="11983" y="293"/>
                </a:lnTo>
                <a:lnTo>
                  <a:pt x="11812" y="171"/>
                </a:lnTo>
                <a:lnTo>
                  <a:pt x="11642" y="74"/>
                </a:lnTo>
                <a:lnTo>
                  <a:pt x="11447" y="25"/>
                </a:lnTo>
                <a:lnTo>
                  <a:pt x="11252" y="1"/>
                </a:lnTo>
                <a:lnTo>
                  <a:pt x="5115" y="1"/>
                </a:lnTo>
                <a:lnTo>
                  <a:pt x="5115" y="1"/>
                </a:lnTo>
                <a:lnTo>
                  <a:pt x="4920" y="25"/>
                </a:lnTo>
                <a:lnTo>
                  <a:pt x="4725" y="74"/>
                </a:lnTo>
                <a:lnTo>
                  <a:pt x="4554" y="171"/>
                </a:lnTo>
                <a:lnTo>
                  <a:pt x="4384" y="293"/>
                </a:lnTo>
                <a:lnTo>
                  <a:pt x="292" y="4385"/>
                </a:lnTo>
                <a:lnTo>
                  <a:pt x="292" y="4385"/>
                </a:lnTo>
                <a:lnTo>
                  <a:pt x="171" y="4555"/>
                </a:lnTo>
                <a:lnTo>
                  <a:pt x="73" y="4726"/>
                </a:lnTo>
                <a:lnTo>
                  <a:pt x="24" y="4921"/>
                </a:lnTo>
                <a:lnTo>
                  <a:pt x="0" y="5115"/>
                </a:lnTo>
                <a:lnTo>
                  <a:pt x="0" y="11253"/>
                </a:lnTo>
                <a:lnTo>
                  <a:pt x="0" y="11253"/>
                </a:lnTo>
                <a:lnTo>
                  <a:pt x="24" y="11448"/>
                </a:lnTo>
                <a:lnTo>
                  <a:pt x="73" y="11642"/>
                </a:lnTo>
                <a:lnTo>
                  <a:pt x="171" y="11813"/>
                </a:lnTo>
                <a:lnTo>
                  <a:pt x="292" y="11983"/>
                </a:lnTo>
                <a:lnTo>
                  <a:pt x="4384" y="16075"/>
                </a:lnTo>
                <a:lnTo>
                  <a:pt x="4384" y="16075"/>
                </a:lnTo>
                <a:lnTo>
                  <a:pt x="4554" y="16197"/>
                </a:lnTo>
                <a:lnTo>
                  <a:pt x="4725" y="16294"/>
                </a:lnTo>
                <a:lnTo>
                  <a:pt x="4920" y="16343"/>
                </a:lnTo>
                <a:lnTo>
                  <a:pt x="5115" y="16367"/>
                </a:lnTo>
                <a:lnTo>
                  <a:pt x="11252" y="16367"/>
                </a:lnTo>
                <a:lnTo>
                  <a:pt x="11252" y="16367"/>
                </a:lnTo>
                <a:lnTo>
                  <a:pt x="11447" y="16343"/>
                </a:lnTo>
                <a:lnTo>
                  <a:pt x="11642" y="16294"/>
                </a:lnTo>
                <a:lnTo>
                  <a:pt x="11812" y="16197"/>
                </a:lnTo>
                <a:lnTo>
                  <a:pt x="11983" y="16075"/>
                </a:lnTo>
                <a:lnTo>
                  <a:pt x="16074" y="11983"/>
                </a:lnTo>
                <a:lnTo>
                  <a:pt x="16074" y="11983"/>
                </a:lnTo>
                <a:lnTo>
                  <a:pt x="16196" y="11813"/>
                </a:lnTo>
                <a:lnTo>
                  <a:pt x="16294" y="11642"/>
                </a:lnTo>
                <a:lnTo>
                  <a:pt x="16342" y="11448"/>
                </a:lnTo>
                <a:lnTo>
                  <a:pt x="16367" y="11253"/>
                </a:lnTo>
                <a:lnTo>
                  <a:pt x="16367" y="5115"/>
                </a:lnTo>
                <a:lnTo>
                  <a:pt x="16367" y="5115"/>
                </a:lnTo>
                <a:lnTo>
                  <a:pt x="16342" y="4921"/>
                </a:lnTo>
                <a:lnTo>
                  <a:pt x="16294" y="4726"/>
                </a:lnTo>
                <a:lnTo>
                  <a:pt x="16196" y="4555"/>
                </a:lnTo>
                <a:lnTo>
                  <a:pt x="16074" y="4385"/>
                </a:lnTo>
                <a:lnTo>
                  <a:pt x="16074" y="4385"/>
                </a:lnTo>
                <a:close/>
                <a:moveTo>
                  <a:pt x="9864" y="8452"/>
                </a:moveTo>
                <a:lnTo>
                  <a:pt x="11203" y="9792"/>
                </a:lnTo>
                <a:lnTo>
                  <a:pt x="11203" y="9792"/>
                </a:lnTo>
                <a:lnTo>
                  <a:pt x="11252" y="9840"/>
                </a:lnTo>
                <a:lnTo>
                  <a:pt x="11276" y="9913"/>
                </a:lnTo>
                <a:lnTo>
                  <a:pt x="11301" y="10059"/>
                </a:lnTo>
                <a:lnTo>
                  <a:pt x="11276" y="10206"/>
                </a:lnTo>
                <a:lnTo>
                  <a:pt x="11252" y="10279"/>
                </a:lnTo>
                <a:lnTo>
                  <a:pt x="11203" y="10327"/>
                </a:lnTo>
                <a:lnTo>
                  <a:pt x="10327" y="11204"/>
                </a:lnTo>
                <a:lnTo>
                  <a:pt x="10327" y="11204"/>
                </a:lnTo>
                <a:lnTo>
                  <a:pt x="10278" y="11253"/>
                </a:lnTo>
                <a:lnTo>
                  <a:pt x="10205" y="11277"/>
                </a:lnTo>
                <a:lnTo>
                  <a:pt x="10059" y="11302"/>
                </a:lnTo>
                <a:lnTo>
                  <a:pt x="9913" y="11277"/>
                </a:lnTo>
                <a:lnTo>
                  <a:pt x="9840" y="11253"/>
                </a:lnTo>
                <a:lnTo>
                  <a:pt x="9791" y="11204"/>
                </a:lnTo>
                <a:lnTo>
                  <a:pt x="8451" y="9865"/>
                </a:lnTo>
                <a:lnTo>
                  <a:pt x="8451" y="9865"/>
                </a:lnTo>
                <a:lnTo>
                  <a:pt x="8403" y="9816"/>
                </a:lnTo>
                <a:lnTo>
                  <a:pt x="8330" y="9792"/>
                </a:lnTo>
                <a:lnTo>
                  <a:pt x="8183" y="9767"/>
                </a:lnTo>
                <a:lnTo>
                  <a:pt x="8037" y="9792"/>
                </a:lnTo>
                <a:lnTo>
                  <a:pt x="7964" y="9816"/>
                </a:lnTo>
                <a:lnTo>
                  <a:pt x="7915" y="9865"/>
                </a:lnTo>
                <a:lnTo>
                  <a:pt x="6576" y="11204"/>
                </a:lnTo>
                <a:lnTo>
                  <a:pt x="6576" y="11204"/>
                </a:lnTo>
                <a:lnTo>
                  <a:pt x="6527" y="11253"/>
                </a:lnTo>
                <a:lnTo>
                  <a:pt x="6454" y="11277"/>
                </a:lnTo>
                <a:lnTo>
                  <a:pt x="6308" y="11302"/>
                </a:lnTo>
                <a:lnTo>
                  <a:pt x="6162" y="11277"/>
                </a:lnTo>
                <a:lnTo>
                  <a:pt x="6089" y="11253"/>
                </a:lnTo>
                <a:lnTo>
                  <a:pt x="6040" y="11204"/>
                </a:lnTo>
                <a:lnTo>
                  <a:pt x="5163" y="10327"/>
                </a:lnTo>
                <a:lnTo>
                  <a:pt x="5163" y="10327"/>
                </a:lnTo>
                <a:lnTo>
                  <a:pt x="5115" y="10279"/>
                </a:lnTo>
                <a:lnTo>
                  <a:pt x="5090" y="10206"/>
                </a:lnTo>
                <a:lnTo>
                  <a:pt x="5066" y="10059"/>
                </a:lnTo>
                <a:lnTo>
                  <a:pt x="5090" y="9913"/>
                </a:lnTo>
                <a:lnTo>
                  <a:pt x="5115" y="9840"/>
                </a:lnTo>
                <a:lnTo>
                  <a:pt x="5163" y="9792"/>
                </a:lnTo>
                <a:lnTo>
                  <a:pt x="6503" y="8452"/>
                </a:lnTo>
                <a:lnTo>
                  <a:pt x="6503" y="8452"/>
                </a:lnTo>
                <a:lnTo>
                  <a:pt x="6552" y="8403"/>
                </a:lnTo>
                <a:lnTo>
                  <a:pt x="6576" y="8330"/>
                </a:lnTo>
                <a:lnTo>
                  <a:pt x="6600" y="8184"/>
                </a:lnTo>
                <a:lnTo>
                  <a:pt x="6576" y="8038"/>
                </a:lnTo>
                <a:lnTo>
                  <a:pt x="6552" y="7965"/>
                </a:lnTo>
                <a:lnTo>
                  <a:pt x="6503" y="7916"/>
                </a:lnTo>
                <a:lnTo>
                  <a:pt x="5163" y="6577"/>
                </a:lnTo>
                <a:lnTo>
                  <a:pt x="5163" y="6577"/>
                </a:lnTo>
                <a:lnTo>
                  <a:pt x="5115" y="6528"/>
                </a:lnTo>
                <a:lnTo>
                  <a:pt x="5090" y="6455"/>
                </a:lnTo>
                <a:lnTo>
                  <a:pt x="5066" y="6309"/>
                </a:lnTo>
                <a:lnTo>
                  <a:pt x="5090" y="6163"/>
                </a:lnTo>
                <a:lnTo>
                  <a:pt x="5115" y="6090"/>
                </a:lnTo>
                <a:lnTo>
                  <a:pt x="5163" y="6041"/>
                </a:lnTo>
                <a:lnTo>
                  <a:pt x="6040" y="5164"/>
                </a:lnTo>
                <a:lnTo>
                  <a:pt x="6040" y="5164"/>
                </a:lnTo>
                <a:lnTo>
                  <a:pt x="6089" y="5115"/>
                </a:lnTo>
                <a:lnTo>
                  <a:pt x="6162" y="5091"/>
                </a:lnTo>
                <a:lnTo>
                  <a:pt x="6308" y="5067"/>
                </a:lnTo>
                <a:lnTo>
                  <a:pt x="6454" y="5091"/>
                </a:lnTo>
                <a:lnTo>
                  <a:pt x="6527" y="5115"/>
                </a:lnTo>
                <a:lnTo>
                  <a:pt x="6576" y="5164"/>
                </a:lnTo>
                <a:lnTo>
                  <a:pt x="7915" y="6504"/>
                </a:lnTo>
                <a:lnTo>
                  <a:pt x="7915" y="6504"/>
                </a:lnTo>
                <a:lnTo>
                  <a:pt x="7964" y="6552"/>
                </a:lnTo>
                <a:lnTo>
                  <a:pt x="8037" y="6577"/>
                </a:lnTo>
                <a:lnTo>
                  <a:pt x="8183" y="6601"/>
                </a:lnTo>
                <a:lnTo>
                  <a:pt x="8330" y="6577"/>
                </a:lnTo>
                <a:lnTo>
                  <a:pt x="8403" y="6552"/>
                </a:lnTo>
                <a:lnTo>
                  <a:pt x="8451" y="6504"/>
                </a:lnTo>
                <a:lnTo>
                  <a:pt x="9791" y="5164"/>
                </a:lnTo>
                <a:lnTo>
                  <a:pt x="9791" y="5164"/>
                </a:lnTo>
                <a:lnTo>
                  <a:pt x="9840" y="5115"/>
                </a:lnTo>
                <a:lnTo>
                  <a:pt x="9913" y="5091"/>
                </a:lnTo>
                <a:lnTo>
                  <a:pt x="10059" y="5067"/>
                </a:lnTo>
                <a:lnTo>
                  <a:pt x="10205" y="5091"/>
                </a:lnTo>
                <a:lnTo>
                  <a:pt x="10278" y="5115"/>
                </a:lnTo>
                <a:lnTo>
                  <a:pt x="10327" y="5164"/>
                </a:lnTo>
                <a:lnTo>
                  <a:pt x="11203" y="6041"/>
                </a:lnTo>
                <a:lnTo>
                  <a:pt x="11203" y="6041"/>
                </a:lnTo>
                <a:lnTo>
                  <a:pt x="11252" y="6090"/>
                </a:lnTo>
                <a:lnTo>
                  <a:pt x="11276" y="6163"/>
                </a:lnTo>
                <a:lnTo>
                  <a:pt x="11301" y="6309"/>
                </a:lnTo>
                <a:lnTo>
                  <a:pt x="11276" y="6455"/>
                </a:lnTo>
                <a:lnTo>
                  <a:pt x="11252" y="6528"/>
                </a:lnTo>
                <a:lnTo>
                  <a:pt x="11203" y="6577"/>
                </a:lnTo>
                <a:lnTo>
                  <a:pt x="9864" y="7916"/>
                </a:lnTo>
                <a:lnTo>
                  <a:pt x="9864" y="7916"/>
                </a:lnTo>
                <a:lnTo>
                  <a:pt x="9815" y="7965"/>
                </a:lnTo>
                <a:lnTo>
                  <a:pt x="9791" y="8038"/>
                </a:lnTo>
                <a:lnTo>
                  <a:pt x="9766" y="8184"/>
                </a:lnTo>
                <a:lnTo>
                  <a:pt x="9791" y="8330"/>
                </a:lnTo>
                <a:lnTo>
                  <a:pt x="9815" y="8403"/>
                </a:lnTo>
                <a:lnTo>
                  <a:pt x="9864" y="8452"/>
                </a:lnTo>
                <a:lnTo>
                  <a:pt x="9864" y="8452"/>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4"/>
          <p:cNvGrpSpPr/>
          <p:nvPr/>
        </p:nvGrpSpPr>
        <p:grpSpPr>
          <a:xfrm>
            <a:off x="5467771" y="3351777"/>
            <a:ext cx="329954" cy="245326"/>
            <a:chOff x="5247525" y="3007275"/>
            <a:chExt cx="517575" cy="384825"/>
          </a:xfrm>
        </p:grpSpPr>
        <p:sp>
          <p:nvSpPr>
            <p:cNvPr id="111" name="Google Shape;111;p14"/>
            <p:cNvSpPr/>
            <p:nvPr/>
          </p:nvSpPr>
          <p:spPr>
            <a:xfrm>
              <a:off x="5247525" y="3007275"/>
              <a:ext cx="348900" cy="348900"/>
            </a:xfrm>
            <a:custGeom>
              <a:rect b="b" l="l" r="r" t="t"/>
              <a:pathLst>
                <a:path extrusionOk="0" fill="none" h="13956" w="13956">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5566575" y="3193575"/>
              <a:ext cx="198525" cy="198525"/>
            </a:xfrm>
            <a:custGeom>
              <a:rect b="b" l="l" r="r" t="t"/>
              <a:pathLst>
                <a:path extrusionOk="0" fill="none" h="7941" w="7941">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ctrTitle"/>
          </p:nvPr>
        </p:nvSpPr>
        <p:spPr>
          <a:xfrm>
            <a:off x="533400" y="3372150"/>
            <a:ext cx="71457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a:solidFill>
                  <a:srgbClr val="111111"/>
                </a:solidFill>
              </a:rPr>
              <a:t> 2. </a:t>
            </a:r>
            <a:r>
              <a:rPr lang="en"/>
              <a:t>What is genome assembly?</a:t>
            </a:r>
            <a:endParaRPr/>
          </a:p>
        </p:txBody>
      </p:sp>
      <p:sp>
        <p:nvSpPr>
          <p:cNvPr id="118" name="Google Shape;118;p15"/>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24" name="Google Shape;124;p16"/>
          <p:cNvSpPr txBox="1"/>
          <p:nvPr/>
        </p:nvSpPr>
        <p:spPr>
          <a:xfrm>
            <a:off x="962725" y="1299475"/>
            <a:ext cx="6599400" cy="714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200">
                <a:solidFill>
                  <a:srgbClr val="111111"/>
                </a:solidFill>
                <a:latin typeface="Georgia"/>
                <a:ea typeface="Georgia"/>
                <a:cs typeface="Georgia"/>
                <a:sym typeface="Georgia"/>
              </a:rPr>
              <a:t>Computational process which aims to reconstruct entire original genomic sequences of an organism from millions of short, sequenced DNA fragments/reads produced by </a:t>
            </a:r>
            <a:r>
              <a:rPr lang="en" sz="1200">
                <a:solidFill>
                  <a:srgbClr val="111111"/>
                </a:solidFill>
                <a:latin typeface="Georgia"/>
                <a:ea typeface="Georgia"/>
                <a:cs typeface="Georgia"/>
                <a:sym typeface="Georgia"/>
              </a:rPr>
              <a:t>sequencing machines.</a:t>
            </a:r>
            <a:endParaRPr sz="1200">
              <a:solidFill>
                <a:srgbClr val="111111"/>
              </a:solidFill>
              <a:latin typeface="Georgia"/>
              <a:ea typeface="Georgia"/>
              <a:cs typeface="Georgia"/>
              <a:sym typeface="Georgia"/>
            </a:endParaRPr>
          </a:p>
        </p:txBody>
      </p:sp>
      <p:sp>
        <p:nvSpPr>
          <p:cNvPr id="125" name="Google Shape;125;p16"/>
          <p:cNvSpPr txBox="1"/>
          <p:nvPr/>
        </p:nvSpPr>
        <p:spPr>
          <a:xfrm>
            <a:off x="962725" y="857250"/>
            <a:ext cx="57489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GENOME ASSEMBLY</a:t>
            </a:r>
            <a:endParaRPr b="1" sz="2400">
              <a:solidFill>
                <a:schemeClr val="accent1"/>
              </a:solidFill>
              <a:latin typeface="Georgia"/>
              <a:ea typeface="Georgia"/>
              <a:cs typeface="Georgia"/>
              <a:sym typeface="Georgia"/>
            </a:endParaRPr>
          </a:p>
        </p:txBody>
      </p:sp>
      <p:sp>
        <p:nvSpPr>
          <p:cNvPr id="126" name="Google Shape;126;p16"/>
          <p:cNvSpPr txBox="1"/>
          <p:nvPr/>
        </p:nvSpPr>
        <p:spPr>
          <a:xfrm>
            <a:off x="1183825" y="1928725"/>
            <a:ext cx="3827100" cy="782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accent1"/>
              </a:buClr>
              <a:buSzPts val="1200"/>
              <a:buFont typeface="Georgia"/>
              <a:buChar char="-"/>
            </a:pPr>
            <a:r>
              <a:rPr lang="en" sz="1200">
                <a:solidFill>
                  <a:srgbClr val="111111"/>
                </a:solidFill>
                <a:latin typeface="Georgia"/>
                <a:ea typeface="Georgia"/>
                <a:cs typeface="Georgia"/>
                <a:sym typeface="Georgia"/>
              </a:rPr>
              <a:t>Rectify errors generated during sequencing.</a:t>
            </a:r>
            <a:endParaRPr sz="1200">
              <a:solidFill>
                <a:srgbClr val="111111"/>
              </a:solidFill>
              <a:latin typeface="Georgia"/>
              <a:ea typeface="Georgia"/>
              <a:cs typeface="Georgia"/>
              <a:sym typeface="Georgia"/>
            </a:endParaRPr>
          </a:p>
          <a:p>
            <a:pPr indent="-304800" lvl="0" marL="457200" rtl="0" algn="l">
              <a:spcBef>
                <a:spcPts val="0"/>
              </a:spcBef>
              <a:spcAft>
                <a:spcPts val="0"/>
              </a:spcAft>
              <a:buClr>
                <a:schemeClr val="accent1"/>
              </a:buClr>
              <a:buSzPts val="1200"/>
              <a:buFont typeface="Georgia"/>
              <a:buChar char="-"/>
            </a:pPr>
            <a:r>
              <a:rPr lang="en" sz="1200">
                <a:solidFill>
                  <a:srgbClr val="111111"/>
                </a:solidFill>
                <a:latin typeface="Georgia"/>
                <a:ea typeface="Georgia"/>
                <a:cs typeface="Georgia"/>
                <a:sym typeface="Georgia"/>
              </a:rPr>
              <a:t>Resolve repetitives sequences.</a:t>
            </a:r>
            <a:endParaRPr sz="1200">
              <a:solidFill>
                <a:srgbClr val="111111"/>
              </a:solidFill>
              <a:latin typeface="Georgia"/>
              <a:ea typeface="Georgia"/>
              <a:cs typeface="Georgia"/>
              <a:sym typeface="Georgia"/>
            </a:endParaRPr>
          </a:p>
          <a:p>
            <a:pPr indent="-304800" lvl="0" marL="457200" rtl="0" algn="l">
              <a:spcBef>
                <a:spcPts val="0"/>
              </a:spcBef>
              <a:spcAft>
                <a:spcPts val="0"/>
              </a:spcAft>
              <a:buClr>
                <a:schemeClr val="accent1"/>
              </a:buClr>
              <a:buSzPts val="1200"/>
              <a:buFont typeface="Georgia"/>
              <a:buChar char="-"/>
            </a:pPr>
            <a:r>
              <a:rPr lang="en" sz="1200">
                <a:solidFill>
                  <a:srgbClr val="111111"/>
                </a:solidFill>
                <a:latin typeface="Georgia"/>
                <a:ea typeface="Georgia"/>
                <a:cs typeface="Georgia"/>
                <a:sym typeface="Georgia"/>
              </a:rPr>
              <a:t>Handle terabytes of sequencing data.</a:t>
            </a:r>
            <a:endParaRPr sz="1200">
              <a:solidFill>
                <a:srgbClr val="111111"/>
              </a:solidFill>
              <a:latin typeface="Georgia"/>
              <a:ea typeface="Georgia"/>
              <a:cs typeface="Georgia"/>
              <a:sym typeface="Georgia"/>
            </a:endParaRPr>
          </a:p>
        </p:txBody>
      </p:sp>
      <p:sp>
        <p:nvSpPr>
          <p:cNvPr id="127" name="Google Shape;127;p16"/>
          <p:cNvSpPr txBox="1"/>
          <p:nvPr/>
        </p:nvSpPr>
        <p:spPr>
          <a:xfrm rot="376089">
            <a:off x="5708175" y="2204634"/>
            <a:ext cx="1343632" cy="54415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11111"/>
                </a:solidFill>
                <a:latin typeface="Georgia"/>
                <a:ea typeface="Georgia"/>
                <a:cs typeface="Georgia"/>
                <a:sym typeface="Georgia"/>
              </a:rPr>
              <a:t>Illumina, PacBio,</a:t>
            </a:r>
            <a:endParaRPr sz="1100">
              <a:solidFill>
                <a:srgbClr val="111111"/>
              </a:solidFill>
              <a:latin typeface="Georgia"/>
              <a:ea typeface="Georgia"/>
              <a:cs typeface="Georgia"/>
              <a:sym typeface="Georgia"/>
            </a:endParaRPr>
          </a:p>
          <a:p>
            <a:pPr indent="0" lvl="0" marL="0" rtl="0" algn="l">
              <a:spcBef>
                <a:spcPts val="0"/>
              </a:spcBef>
              <a:spcAft>
                <a:spcPts val="0"/>
              </a:spcAft>
              <a:buNone/>
            </a:pPr>
            <a:r>
              <a:rPr lang="en" sz="1100">
                <a:solidFill>
                  <a:srgbClr val="111111"/>
                </a:solidFill>
                <a:latin typeface="Georgia"/>
                <a:ea typeface="Georgia"/>
                <a:cs typeface="Georgia"/>
                <a:sym typeface="Georgia"/>
              </a:rPr>
              <a:t>Oxford Nanopore</a:t>
            </a:r>
            <a:endParaRPr sz="1100">
              <a:solidFill>
                <a:srgbClr val="111111"/>
              </a:solidFill>
              <a:latin typeface="Georgia"/>
              <a:ea typeface="Georgia"/>
              <a:cs typeface="Georgia"/>
              <a:sym typeface="Georgia"/>
            </a:endParaRPr>
          </a:p>
        </p:txBody>
      </p:sp>
      <p:sp>
        <p:nvSpPr>
          <p:cNvPr id="128" name="Google Shape;128;p16"/>
          <p:cNvSpPr/>
          <p:nvPr/>
        </p:nvSpPr>
        <p:spPr>
          <a:xfrm>
            <a:off x="5359454" y="1915400"/>
            <a:ext cx="2007072" cy="1122606"/>
          </a:xfrm>
          <a:prstGeom prst="irregularSeal1">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129" name="Google Shape;129;p16"/>
          <p:cNvSpPr/>
          <p:nvPr/>
        </p:nvSpPr>
        <p:spPr>
          <a:xfrm>
            <a:off x="1030750" y="2796275"/>
            <a:ext cx="1905000" cy="130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130" name="Google Shape;130;p16"/>
          <p:cNvSpPr/>
          <p:nvPr/>
        </p:nvSpPr>
        <p:spPr>
          <a:xfrm>
            <a:off x="3195100" y="2796275"/>
            <a:ext cx="1905000" cy="13098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131" name="Google Shape;131;p16"/>
          <p:cNvSpPr txBox="1"/>
          <p:nvPr/>
        </p:nvSpPr>
        <p:spPr>
          <a:xfrm>
            <a:off x="1327163" y="2820500"/>
            <a:ext cx="13950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1"/>
                </a:solidFill>
                <a:latin typeface="Georgia"/>
                <a:ea typeface="Georgia"/>
                <a:cs typeface="Georgia"/>
                <a:sym typeface="Georgia"/>
              </a:rPr>
              <a:t>De novo assembly</a:t>
            </a:r>
            <a:endParaRPr sz="1100">
              <a:solidFill>
                <a:schemeClr val="accent1"/>
              </a:solidFill>
              <a:latin typeface="Georgia"/>
              <a:ea typeface="Georgia"/>
              <a:cs typeface="Georgia"/>
              <a:sym typeface="Georgia"/>
            </a:endParaRPr>
          </a:p>
        </p:txBody>
      </p:sp>
      <p:sp>
        <p:nvSpPr>
          <p:cNvPr id="132" name="Google Shape;132;p16"/>
          <p:cNvSpPr txBox="1"/>
          <p:nvPr/>
        </p:nvSpPr>
        <p:spPr>
          <a:xfrm>
            <a:off x="3208779" y="2821053"/>
            <a:ext cx="1905000" cy="32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accent1"/>
                </a:solidFill>
                <a:latin typeface="Georgia"/>
                <a:ea typeface="Georgia"/>
                <a:cs typeface="Georgia"/>
                <a:sym typeface="Georgia"/>
              </a:rPr>
              <a:t>Reference-guided assembly</a:t>
            </a:r>
            <a:endParaRPr sz="1100">
              <a:solidFill>
                <a:schemeClr val="accent1"/>
              </a:solidFill>
              <a:latin typeface="Georgia"/>
              <a:ea typeface="Georgia"/>
              <a:cs typeface="Georgia"/>
              <a:sym typeface="Georgia"/>
            </a:endParaRPr>
          </a:p>
        </p:txBody>
      </p:sp>
      <p:sp>
        <p:nvSpPr>
          <p:cNvPr id="133" name="Google Shape;133;p16"/>
          <p:cNvSpPr txBox="1"/>
          <p:nvPr/>
        </p:nvSpPr>
        <p:spPr>
          <a:xfrm>
            <a:off x="1168750" y="3252975"/>
            <a:ext cx="16290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11111"/>
                </a:solidFill>
                <a:latin typeface="Georgia"/>
                <a:ea typeface="Georgia"/>
                <a:cs typeface="Georgia"/>
                <a:sym typeface="Georgia"/>
              </a:rPr>
              <a:t>Build genome from scratch, without reference.</a:t>
            </a:r>
            <a:endParaRPr sz="1100">
              <a:solidFill>
                <a:srgbClr val="111111"/>
              </a:solidFill>
              <a:latin typeface="Georgia"/>
              <a:ea typeface="Georgia"/>
              <a:cs typeface="Georgia"/>
              <a:sym typeface="Georgia"/>
            </a:endParaRPr>
          </a:p>
        </p:txBody>
      </p:sp>
      <p:sp>
        <p:nvSpPr>
          <p:cNvPr id="134" name="Google Shape;134;p16"/>
          <p:cNvSpPr txBox="1"/>
          <p:nvPr/>
        </p:nvSpPr>
        <p:spPr>
          <a:xfrm>
            <a:off x="3333100" y="3253528"/>
            <a:ext cx="16290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11111"/>
                </a:solidFill>
                <a:latin typeface="Georgia"/>
                <a:ea typeface="Georgia"/>
                <a:cs typeface="Georgia"/>
                <a:sym typeface="Georgia"/>
              </a:rPr>
              <a:t>Reads aligned to a known similar genome.</a:t>
            </a:r>
            <a:endParaRPr sz="1100">
              <a:solidFill>
                <a:srgbClr val="111111"/>
              </a:solidFill>
              <a:latin typeface="Georgia"/>
              <a:ea typeface="Georgia"/>
              <a:cs typeface="Georgia"/>
              <a:sym typeface="Georgia"/>
            </a:endParaRPr>
          </a:p>
        </p:txBody>
      </p:sp>
      <p:cxnSp>
        <p:nvCxnSpPr>
          <p:cNvPr id="135" name="Google Shape;135;p16"/>
          <p:cNvCxnSpPr/>
          <p:nvPr/>
        </p:nvCxnSpPr>
        <p:spPr>
          <a:xfrm>
            <a:off x="1054650" y="3152925"/>
            <a:ext cx="1877400" cy="0"/>
          </a:xfrm>
          <a:prstGeom prst="straightConnector1">
            <a:avLst/>
          </a:prstGeom>
          <a:noFill/>
          <a:ln cap="flat" cmpd="sng" w="9525">
            <a:solidFill>
              <a:schemeClr val="accent1"/>
            </a:solidFill>
            <a:prstDash val="solid"/>
            <a:round/>
            <a:headEnd len="med" w="med" type="none"/>
            <a:tailEnd len="med" w="med" type="none"/>
          </a:ln>
        </p:spPr>
      </p:cxnSp>
      <p:cxnSp>
        <p:nvCxnSpPr>
          <p:cNvPr id="136" name="Google Shape;136;p16"/>
          <p:cNvCxnSpPr/>
          <p:nvPr/>
        </p:nvCxnSpPr>
        <p:spPr>
          <a:xfrm>
            <a:off x="3222575" y="3152925"/>
            <a:ext cx="1877400" cy="0"/>
          </a:xfrm>
          <a:prstGeom prst="straightConnector1">
            <a:avLst/>
          </a:prstGeom>
          <a:noFill/>
          <a:ln cap="flat" cmpd="sng" w="9525">
            <a:solidFill>
              <a:schemeClr val="accent1"/>
            </a:solidFill>
            <a:prstDash val="solid"/>
            <a:round/>
            <a:headEnd len="med" w="med" type="none"/>
            <a:tailEnd len="med" w="med" type="none"/>
          </a:ln>
        </p:spPr>
      </p:cxnSp>
      <p:sp>
        <p:nvSpPr>
          <p:cNvPr id="137" name="Google Shape;137;p16"/>
          <p:cNvSpPr/>
          <p:nvPr/>
        </p:nvSpPr>
        <p:spPr>
          <a:xfrm>
            <a:off x="7969013" y="3547248"/>
            <a:ext cx="258522" cy="225930"/>
          </a:xfrm>
          <a:custGeom>
            <a:rect b="b" l="l" r="r" t="t"/>
            <a:pathLst>
              <a:path extrusionOk="0" fill="none" h="14176" w="16221">
                <a:moveTo>
                  <a:pt x="16075" y="12665"/>
                </a:moveTo>
                <a:lnTo>
                  <a:pt x="8987" y="488"/>
                </a:lnTo>
                <a:lnTo>
                  <a:pt x="8987" y="488"/>
                </a:lnTo>
                <a:lnTo>
                  <a:pt x="8914" y="390"/>
                </a:lnTo>
                <a:lnTo>
                  <a:pt x="8817" y="293"/>
                </a:lnTo>
                <a:lnTo>
                  <a:pt x="8720" y="196"/>
                </a:lnTo>
                <a:lnTo>
                  <a:pt x="8622" y="123"/>
                </a:lnTo>
                <a:lnTo>
                  <a:pt x="8500" y="74"/>
                </a:lnTo>
                <a:lnTo>
                  <a:pt x="8379" y="25"/>
                </a:lnTo>
                <a:lnTo>
                  <a:pt x="8232" y="1"/>
                </a:lnTo>
                <a:lnTo>
                  <a:pt x="8111" y="1"/>
                </a:lnTo>
                <a:lnTo>
                  <a:pt x="8111" y="1"/>
                </a:lnTo>
                <a:lnTo>
                  <a:pt x="7965" y="1"/>
                </a:lnTo>
                <a:lnTo>
                  <a:pt x="7843" y="25"/>
                </a:lnTo>
                <a:lnTo>
                  <a:pt x="7721" y="74"/>
                </a:lnTo>
                <a:lnTo>
                  <a:pt x="7599" y="123"/>
                </a:lnTo>
                <a:lnTo>
                  <a:pt x="7502" y="196"/>
                </a:lnTo>
                <a:lnTo>
                  <a:pt x="7404" y="293"/>
                </a:lnTo>
                <a:lnTo>
                  <a:pt x="7307" y="390"/>
                </a:lnTo>
                <a:lnTo>
                  <a:pt x="7234" y="488"/>
                </a:lnTo>
                <a:lnTo>
                  <a:pt x="147" y="12665"/>
                </a:lnTo>
                <a:lnTo>
                  <a:pt x="147" y="12665"/>
                </a:lnTo>
                <a:lnTo>
                  <a:pt x="74" y="12787"/>
                </a:lnTo>
                <a:lnTo>
                  <a:pt x="25" y="12909"/>
                </a:lnTo>
                <a:lnTo>
                  <a:pt x="0" y="13031"/>
                </a:lnTo>
                <a:lnTo>
                  <a:pt x="0" y="13177"/>
                </a:lnTo>
                <a:lnTo>
                  <a:pt x="0" y="13177"/>
                </a:lnTo>
                <a:lnTo>
                  <a:pt x="0" y="13299"/>
                </a:lnTo>
                <a:lnTo>
                  <a:pt x="25" y="13420"/>
                </a:lnTo>
                <a:lnTo>
                  <a:pt x="74" y="13567"/>
                </a:lnTo>
                <a:lnTo>
                  <a:pt x="147" y="13688"/>
                </a:lnTo>
                <a:lnTo>
                  <a:pt x="147" y="13688"/>
                </a:lnTo>
                <a:lnTo>
                  <a:pt x="220" y="13786"/>
                </a:lnTo>
                <a:lnTo>
                  <a:pt x="293" y="13883"/>
                </a:lnTo>
                <a:lnTo>
                  <a:pt x="390" y="13981"/>
                </a:lnTo>
                <a:lnTo>
                  <a:pt x="512" y="14054"/>
                </a:lnTo>
                <a:lnTo>
                  <a:pt x="634" y="14102"/>
                </a:lnTo>
                <a:lnTo>
                  <a:pt x="755" y="14151"/>
                </a:lnTo>
                <a:lnTo>
                  <a:pt x="877" y="14175"/>
                </a:lnTo>
                <a:lnTo>
                  <a:pt x="1023" y="14175"/>
                </a:lnTo>
                <a:lnTo>
                  <a:pt x="15198" y="14175"/>
                </a:lnTo>
                <a:lnTo>
                  <a:pt x="15198" y="14175"/>
                </a:lnTo>
                <a:lnTo>
                  <a:pt x="15344" y="14175"/>
                </a:lnTo>
                <a:lnTo>
                  <a:pt x="15466" y="14151"/>
                </a:lnTo>
                <a:lnTo>
                  <a:pt x="15588" y="14102"/>
                </a:lnTo>
                <a:lnTo>
                  <a:pt x="15709" y="14054"/>
                </a:lnTo>
                <a:lnTo>
                  <a:pt x="15831" y="13981"/>
                </a:lnTo>
                <a:lnTo>
                  <a:pt x="15929" y="13883"/>
                </a:lnTo>
                <a:lnTo>
                  <a:pt x="16002" y="13786"/>
                </a:lnTo>
                <a:lnTo>
                  <a:pt x="16075" y="13688"/>
                </a:lnTo>
                <a:lnTo>
                  <a:pt x="16075" y="13688"/>
                </a:lnTo>
                <a:lnTo>
                  <a:pt x="16148" y="13567"/>
                </a:lnTo>
                <a:lnTo>
                  <a:pt x="16197" y="13420"/>
                </a:lnTo>
                <a:lnTo>
                  <a:pt x="16221" y="13299"/>
                </a:lnTo>
                <a:lnTo>
                  <a:pt x="16221" y="13177"/>
                </a:lnTo>
                <a:lnTo>
                  <a:pt x="16221" y="13177"/>
                </a:lnTo>
                <a:lnTo>
                  <a:pt x="16221" y="13031"/>
                </a:lnTo>
                <a:lnTo>
                  <a:pt x="16197" y="12909"/>
                </a:lnTo>
                <a:lnTo>
                  <a:pt x="16148" y="12787"/>
                </a:lnTo>
                <a:lnTo>
                  <a:pt x="16075" y="12665"/>
                </a:lnTo>
                <a:lnTo>
                  <a:pt x="16075" y="12665"/>
                </a:lnTo>
                <a:close/>
                <a:moveTo>
                  <a:pt x="8111" y="12349"/>
                </a:moveTo>
                <a:lnTo>
                  <a:pt x="8111" y="12349"/>
                </a:lnTo>
                <a:lnTo>
                  <a:pt x="7916" y="12324"/>
                </a:lnTo>
                <a:lnTo>
                  <a:pt x="7721" y="12276"/>
                </a:lnTo>
                <a:lnTo>
                  <a:pt x="7575" y="12178"/>
                </a:lnTo>
                <a:lnTo>
                  <a:pt x="7429" y="12057"/>
                </a:lnTo>
                <a:lnTo>
                  <a:pt x="7307" y="11910"/>
                </a:lnTo>
                <a:lnTo>
                  <a:pt x="7210" y="11764"/>
                </a:lnTo>
                <a:lnTo>
                  <a:pt x="7161" y="11569"/>
                </a:lnTo>
                <a:lnTo>
                  <a:pt x="7136" y="11375"/>
                </a:lnTo>
                <a:lnTo>
                  <a:pt x="7136" y="11375"/>
                </a:lnTo>
                <a:lnTo>
                  <a:pt x="7161" y="11180"/>
                </a:lnTo>
                <a:lnTo>
                  <a:pt x="7210" y="11009"/>
                </a:lnTo>
                <a:lnTo>
                  <a:pt x="7307" y="10839"/>
                </a:lnTo>
                <a:lnTo>
                  <a:pt x="7429" y="10693"/>
                </a:lnTo>
                <a:lnTo>
                  <a:pt x="7575" y="10571"/>
                </a:lnTo>
                <a:lnTo>
                  <a:pt x="7721" y="10473"/>
                </a:lnTo>
                <a:lnTo>
                  <a:pt x="7916" y="10425"/>
                </a:lnTo>
                <a:lnTo>
                  <a:pt x="8111" y="10400"/>
                </a:lnTo>
                <a:lnTo>
                  <a:pt x="8111" y="10400"/>
                </a:lnTo>
                <a:lnTo>
                  <a:pt x="8306" y="10425"/>
                </a:lnTo>
                <a:lnTo>
                  <a:pt x="8476" y="10473"/>
                </a:lnTo>
                <a:lnTo>
                  <a:pt x="8646" y="10571"/>
                </a:lnTo>
                <a:lnTo>
                  <a:pt x="8793" y="10693"/>
                </a:lnTo>
                <a:lnTo>
                  <a:pt x="8914" y="10839"/>
                </a:lnTo>
                <a:lnTo>
                  <a:pt x="9012" y="11009"/>
                </a:lnTo>
                <a:lnTo>
                  <a:pt x="9061" y="11180"/>
                </a:lnTo>
                <a:lnTo>
                  <a:pt x="9085" y="11375"/>
                </a:lnTo>
                <a:lnTo>
                  <a:pt x="9085" y="11375"/>
                </a:lnTo>
                <a:lnTo>
                  <a:pt x="9061" y="11569"/>
                </a:lnTo>
                <a:lnTo>
                  <a:pt x="9012" y="11764"/>
                </a:lnTo>
                <a:lnTo>
                  <a:pt x="8914" y="11910"/>
                </a:lnTo>
                <a:lnTo>
                  <a:pt x="8793" y="12057"/>
                </a:lnTo>
                <a:lnTo>
                  <a:pt x="8646" y="12178"/>
                </a:lnTo>
                <a:lnTo>
                  <a:pt x="8476" y="12276"/>
                </a:lnTo>
                <a:lnTo>
                  <a:pt x="8306" y="12324"/>
                </a:lnTo>
                <a:lnTo>
                  <a:pt x="8111" y="12349"/>
                </a:lnTo>
                <a:lnTo>
                  <a:pt x="8111" y="12349"/>
                </a:lnTo>
                <a:close/>
                <a:moveTo>
                  <a:pt x="9231" y="5091"/>
                </a:moveTo>
                <a:lnTo>
                  <a:pt x="8939" y="8915"/>
                </a:lnTo>
                <a:lnTo>
                  <a:pt x="8939" y="8915"/>
                </a:lnTo>
                <a:lnTo>
                  <a:pt x="8914" y="9061"/>
                </a:lnTo>
                <a:lnTo>
                  <a:pt x="8866" y="9207"/>
                </a:lnTo>
                <a:lnTo>
                  <a:pt x="8793" y="9304"/>
                </a:lnTo>
                <a:lnTo>
                  <a:pt x="8695" y="9426"/>
                </a:lnTo>
                <a:lnTo>
                  <a:pt x="8573" y="9499"/>
                </a:lnTo>
                <a:lnTo>
                  <a:pt x="8452" y="9572"/>
                </a:lnTo>
                <a:lnTo>
                  <a:pt x="8330" y="9621"/>
                </a:lnTo>
                <a:lnTo>
                  <a:pt x="8184" y="9621"/>
                </a:lnTo>
                <a:lnTo>
                  <a:pt x="8038" y="9621"/>
                </a:lnTo>
                <a:lnTo>
                  <a:pt x="8038" y="9621"/>
                </a:lnTo>
                <a:lnTo>
                  <a:pt x="7891" y="9621"/>
                </a:lnTo>
                <a:lnTo>
                  <a:pt x="7770" y="9572"/>
                </a:lnTo>
                <a:lnTo>
                  <a:pt x="7648" y="9499"/>
                </a:lnTo>
                <a:lnTo>
                  <a:pt x="7526" y="9426"/>
                </a:lnTo>
                <a:lnTo>
                  <a:pt x="7429" y="9304"/>
                </a:lnTo>
                <a:lnTo>
                  <a:pt x="7356" y="9207"/>
                </a:lnTo>
                <a:lnTo>
                  <a:pt x="7307" y="9061"/>
                </a:lnTo>
                <a:lnTo>
                  <a:pt x="7283" y="8915"/>
                </a:lnTo>
                <a:lnTo>
                  <a:pt x="6990" y="5091"/>
                </a:lnTo>
                <a:lnTo>
                  <a:pt x="6990" y="5091"/>
                </a:lnTo>
                <a:lnTo>
                  <a:pt x="7015" y="4945"/>
                </a:lnTo>
                <a:lnTo>
                  <a:pt x="7039" y="4823"/>
                </a:lnTo>
                <a:lnTo>
                  <a:pt x="7088" y="4701"/>
                </a:lnTo>
                <a:lnTo>
                  <a:pt x="7161" y="4604"/>
                </a:lnTo>
                <a:lnTo>
                  <a:pt x="7258" y="4506"/>
                </a:lnTo>
                <a:lnTo>
                  <a:pt x="7380" y="4433"/>
                </a:lnTo>
                <a:lnTo>
                  <a:pt x="7526" y="4409"/>
                </a:lnTo>
                <a:lnTo>
                  <a:pt x="7648" y="4385"/>
                </a:lnTo>
                <a:lnTo>
                  <a:pt x="8573" y="4385"/>
                </a:lnTo>
                <a:lnTo>
                  <a:pt x="8573" y="4385"/>
                </a:lnTo>
                <a:lnTo>
                  <a:pt x="8695" y="4409"/>
                </a:lnTo>
                <a:lnTo>
                  <a:pt x="8841" y="4433"/>
                </a:lnTo>
                <a:lnTo>
                  <a:pt x="8963" y="4506"/>
                </a:lnTo>
                <a:lnTo>
                  <a:pt x="9061" y="4604"/>
                </a:lnTo>
                <a:lnTo>
                  <a:pt x="9134" y="4701"/>
                </a:lnTo>
                <a:lnTo>
                  <a:pt x="9182" y="4823"/>
                </a:lnTo>
                <a:lnTo>
                  <a:pt x="9207" y="4945"/>
                </a:lnTo>
                <a:lnTo>
                  <a:pt x="9231" y="5091"/>
                </a:lnTo>
                <a:lnTo>
                  <a:pt x="9231" y="5091"/>
                </a:lnTo>
                <a:close/>
              </a:path>
            </a:pathLst>
          </a:custGeom>
          <a:noFill/>
          <a:ln cap="rnd" cmpd="sng" w="121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6"/>
          <p:cNvSpPr txBox="1"/>
          <p:nvPr/>
        </p:nvSpPr>
        <p:spPr>
          <a:xfrm>
            <a:off x="5770225" y="3252975"/>
            <a:ext cx="2457300" cy="89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11111"/>
                </a:solidFill>
                <a:latin typeface="Georgia"/>
                <a:ea typeface="Georgia"/>
                <a:cs typeface="Georgia"/>
                <a:sym typeface="Georgia"/>
              </a:rPr>
              <a:t>Computationally repeatable and reproducible.</a:t>
            </a:r>
            <a:endParaRPr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1100">
              <a:solidFill>
                <a:srgbClr val="111111"/>
              </a:solidFill>
              <a:latin typeface="Georgia"/>
              <a:ea typeface="Georgia"/>
              <a:cs typeface="Georgia"/>
              <a:sym typeface="Georgia"/>
            </a:endParaRPr>
          </a:p>
          <a:p>
            <a:pPr indent="0" lvl="0" marL="0" rtl="0" algn="l">
              <a:spcBef>
                <a:spcPts val="0"/>
              </a:spcBef>
              <a:spcAft>
                <a:spcPts val="0"/>
              </a:spcAft>
              <a:buNone/>
            </a:pPr>
            <a:r>
              <a:rPr lang="en" sz="1100">
                <a:solidFill>
                  <a:srgbClr val="111111"/>
                </a:solidFill>
                <a:latin typeface="Georgia"/>
                <a:ea typeface="Georgia"/>
                <a:cs typeface="Georgia"/>
                <a:sym typeface="Georgia"/>
              </a:rPr>
              <a:t>Findable, accessible, interoperable and reusable.</a:t>
            </a:r>
            <a:endParaRPr sz="1100">
              <a:solidFill>
                <a:srgbClr val="11111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7"/>
          <p:cNvSpPr txBox="1"/>
          <p:nvPr>
            <p:ph type="ctrTitle"/>
          </p:nvPr>
        </p:nvSpPr>
        <p:spPr>
          <a:xfrm>
            <a:off x="533400" y="3372150"/>
            <a:ext cx="71457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a:solidFill>
                  <a:srgbClr val="111111"/>
                </a:solidFill>
              </a:rPr>
              <a:t> 3. </a:t>
            </a:r>
            <a:r>
              <a:rPr lang="en"/>
              <a:t>Short VS long reads</a:t>
            </a:r>
            <a:endParaRPr/>
          </a:p>
        </p:txBody>
      </p:sp>
      <p:sp>
        <p:nvSpPr>
          <p:cNvPr id="144" name="Google Shape;144;p17"/>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type="title"/>
          </p:nvPr>
        </p:nvSpPr>
        <p:spPr>
          <a:xfrm>
            <a:off x="533400" y="484400"/>
            <a:ext cx="38073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Short VS long reads</a:t>
            </a:r>
            <a:endParaRPr/>
          </a:p>
        </p:txBody>
      </p:sp>
      <p:sp>
        <p:nvSpPr>
          <p:cNvPr id="150" name="Google Shape;150;p18"/>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151" name="Google Shape;151;p18"/>
          <p:cNvGraphicFramePr/>
          <p:nvPr/>
        </p:nvGraphicFramePr>
        <p:xfrm>
          <a:off x="2244450" y="1241025"/>
          <a:ext cx="3000000" cy="3000000"/>
        </p:xfrm>
        <a:graphic>
          <a:graphicData uri="http://schemas.openxmlformats.org/drawingml/2006/table">
            <a:tbl>
              <a:tblPr>
                <a:noFill/>
                <a:tableStyleId>{1F0A8169-9F0D-42B9-96D0-E976CC1306B4}</a:tableStyleId>
              </a:tblPr>
              <a:tblGrid>
                <a:gridCol w="1587425"/>
                <a:gridCol w="2070550"/>
                <a:gridCol w="2389750"/>
              </a:tblGrid>
              <a:tr h="441925">
                <a:tc>
                  <a:txBody>
                    <a:bodyPr/>
                    <a:lstStyle/>
                    <a:p>
                      <a:pPr indent="0" lvl="0" marL="0" rtl="0" algn="l">
                        <a:spcBef>
                          <a:spcPts val="0"/>
                        </a:spcBef>
                        <a:spcAft>
                          <a:spcPts val="0"/>
                        </a:spcAft>
                        <a:buNone/>
                      </a:pPr>
                      <a:r>
                        <a:rPr b="1" lang="en" sz="1100">
                          <a:latin typeface="Georgia"/>
                          <a:ea typeface="Georgia"/>
                          <a:cs typeface="Georgia"/>
                          <a:sym typeface="Georgia"/>
                        </a:rPr>
                        <a:t>Feature</a:t>
                      </a:r>
                      <a:endParaRPr b="1" sz="1100">
                        <a:latin typeface="Georgia"/>
                        <a:ea typeface="Georgia"/>
                        <a:cs typeface="Georgia"/>
                        <a:sym typeface="Georgia"/>
                      </a:endParaRPr>
                    </a:p>
                  </a:txBody>
                  <a:tcPr marT="63500" marB="63500" marR="63500" marL="63500">
                    <a:solidFill>
                      <a:srgbClr val="F4CCCC"/>
                    </a:solidFill>
                  </a:tcPr>
                </a:tc>
                <a:tc>
                  <a:txBody>
                    <a:bodyPr/>
                    <a:lstStyle/>
                    <a:p>
                      <a:pPr indent="0" lvl="0" marL="0" rtl="0" algn="l">
                        <a:spcBef>
                          <a:spcPts val="0"/>
                        </a:spcBef>
                        <a:spcAft>
                          <a:spcPts val="0"/>
                        </a:spcAft>
                        <a:buNone/>
                      </a:pPr>
                      <a:r>
                        <a:rPr b="1" lang="en" sz="1100">
                          <a:latin typeface="Georgia"/>
                          <a:ea typeface="Georgia"/>
                          <a:cs typeface="Georgia"/>
                          <a:sym typeface="Georgia"/>
                        </a:rPr>
                        <a:t>Short-Reads</a:t>
                      </a:r>
                      <a:r>
                        <a:rPr lang="en" sz="1100">
                          <a:latin typeface="Georgia"/>
                          <a:ea typeface="Georgia"/>
                          <a:cs typeface="Georgia"/>
                          <a:sym typeface="Georgia"/>
                        </a:rPr>
                        <a:t> (Illumina, &lt;300 bp)</a:t>
                      </a:r>
                      <a:endParaRPr sz="1100">
                        <a:latin typeface="Georgia"/>
                        <a:ea typeface="Georgia"/>
                        <a:cs typeface="Georgia"/>
                        <a:sym typeface="Georgia"/>
                      </a:endParaRPr>
                    </a:p>
                  </a:txBody>
                  <a:tcPr marT="63500" marB="63500" marR="63500" marL="63500">
                    <a:solidFill>
                      <a:srgbClr val="F4CCCC"/>
                    </a:solidFill>
                  </a:tcPr>
                </a:tc>
                <a:tc>
                  <a:txBody>
                    <a:bodyPr/>
                    <a:lstStyle/>
                    <a:p>
                      <a:pPr indent="0" lvl="0" marL="0" rtl="0" algn="l">
                        <a:spcBef>
                          <a:spcPts val="0"/>
                        </a:spcBef>
                        <a:spcAft>
                          <a:spcPts val="0"/>
                        </a:spcAft>
                        <a:buNone/>
                      </a:pPr>
                      <a:r>
                        <a:rPr b="1" lang="en" sz="1100">
                          <a:latin typeface="Georgia"/>
                          <a:ea typeface="Georgia"/>
                          <a:cs typeface="Georgia"/>
                          <a:sym typeface="Georgia"/>
                        </a:rPr>
                        <a:t>Long-Reads</a:t>
                      </a:r>
                      <a:r>
                        <a:rPr lang="en" sz="1100">
                          <a:latin typeface="Georgia"/>
                          <a:ea typeface="Georgia"/>
                          <a:cs typeface="Georgia"/>
                          <a:sym typeface="Georgia"/>
                        </a:rPr>
                        <a:t> (PacBio, Oxford Nanopore; 5–50 kb+)</a:t>
                      </a:r>
                      <a:endParaRPr sz="1100">
                        <a:latin typeface="Georgia"/>
                        <a:ea typeface="Georgia"/>
                        <a:cs typeface="Georgia"/>
                        <a:sym typeface="Georgia"/>
                      </a:endParaRPr>
                    </a:p>
                  </a:txBody>
                  <a:tcPr marT="63500" marB="63500" marR="63500" marL="63500">
                    <a:solidFill>
                      <a:srgbClr val="F4CCCC"/>
                    </a:solidFill>
                  </a:tcPr>
                </a:tc>
              </a:tr>
              <a:tr h="280675">
                <a:tc>
                  <a:txBody>
                    <a:bodyPr/>
                    <a:lstStyle/>
                    <a:p>
                      <a:pPr indent="0" lvl="0" marL="0" rtl="0" algn="l">
                        <a:spcBef>
                          <a:spcPts val="0"/>
                        </a:spcBef>
                        <a:spcAft>
                          <a:spcPts val="0"/>
                        </a:spcAft>
                        <a:buNone/>
                      </a:pPr>
                      <a:r>
                        <a:rPr b="1" lang="en" sz="1100">
                          <a:latin typeface="Georgia"/>
                          <a:ea typeface="Georgia"/>
                          <a:cs typeface="Georgia"/>
                          <a:sym typeface="Georgia"/>
                        </a:rPr>
                        <a:t>Typical read length</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50–300 bp</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5,000–100,000+ bp</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Error rate</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Very low (0.1–1%)</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Higher (5–15%, but improving)</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Cost</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Cheap per base</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More expensive per base</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Handling repeats</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Hard</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Easy (span repeats)</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Diploid separation</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Hard to resolve haplotypes</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Better haplotype phasing</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Assembly continuity</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Fragmented</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More complete, fewer gaps</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Best for</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Population studies, resequencing</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De novo assembly, structural variants</a:t>
                      </a:r>
                      <a:endParaRPr sz="1100">
                        <a:latin typeface="Georgia"/>
                        <a:ea typeface="Georgia"/>
                        <a:cs typeface="Georgia"/>
                        <a:sym typeface="Georgia"/>
                      </a:endParaRPr>
                    </a:p>
                  </a:txBody>
                  <a:tcPr marT="63500" marB="63500" marR="63500" marL="63500"/>
                </a:tc>
              </a:tr>
              <a:tr h="280675">
                <a:tc>
                  <a:txBody>
                    <a:bodyPr/>
                    <a:lstStyle/>
                    <a:p>
                      <a:pPr indent="0" lvl="0" marL="0" rtl="0" algn="l">
                        <a:spcBef>
                          <a:spcPts val="0"/>
                        </a:spcBef>
                        <a:spcAft>
                          <a:spcPts val="0"/>
                        </a:spcAft>
                        <a:buNone/>
                      </a:pPr>
                      <a:r>
                        <a:rPr b="1" lang="en" sz="1100">
                          <a:latin typeface="Georgia"/>
                          <a:ea typeface="Georgia"/>
                          <a:cs typeface="Georgia"/>
                          <a:sym typeface="Georgia"/>
                        </a:rPr>
                        <a:t>Output</a:t>
                      </a:r>
                      <a:endParaRPr b="1"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Many contigs</a:t>
                      </a:r>
                      <a:endParaRPr sz="1100">
                        <a:latin typeface="Georgia"/>
                        <a:ea typeface="Georgia"/>
                        <a:cs typeface="Georgia"/>
                        <a:sym typeface="Georgia"/>
                      </a:endParaRPr>
                    </a:p>
                  </a:txBody>
                  <a:tcPr marT="63500" marB="63500" marR="63500" marL="63500"/>
                </a:tc>
                <a:tc>
                  <a:txBody>
                    <a:bodyPr/>
                    <a:lstStyle/>
                    <a:p>
                      <a:pPr indent="0" lvl="0" marL="0" rtl="0" algn="ctr">
                        <a:spcBef>
                          <a:spcPts val="0"/>
                        </a:spcBef>
                        <a:spcAft>
                          <a:spcPts val="0"/>
                        </a:spcAft>
                        <a:buNone/>
                      </a:pPr>
                      <a:r>
                        <a:rPr lang="en" sz="1100">
                          <a:latin typeface="Georgia"/>
                          <a:ea typeface="Georgia"/>
                          <a:cs typeface="Georgia"/>
                          <a:sym typeface="Georgia"/>
                        </a:rPr>
                        <a:t>Longer contigs/full chromosomes</a:t>
                      </a:r>
                      <a:endParaRPr sz="1100">
                        <a:latin typeface="Georgia"/>
                        <a:ea typeface="Georgia"/>
                        <a:cs typeface="Georgia"/>
                        <a:sym typeface="Georgia"/>
                      </a:endParaRPr>
                    </a:p>
                  </a:txBody>
                  <a:tcPr marT="63500" marB="63500" marR="63500" marL="6350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57" name="Google Shape;157;p19"/>
          <p:cNvSpPr txBox="1"/>
          <p:nvPr/>
        </p:nvSpPr>
        <p:spPr>
          <a:xfrm>
            <a:off x="1500177" y="1112402"/>
            <a:ext cx="2687400" cy="13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111111"/>
                </a:solidFill>
                <a:latin typeface="Georgia"/>
                <a:ea typeface="Georgia"/>
                <a:cs typeface="Georgia"/>
                <a:sym typeface="Georgia"/>
              </a:rPr>
              <a:t>In conclusion:</a:t>
            </a:r>
            <a:endParaRPr sz="2400">
              <a:solidFill>
                <a:srgbClr val="111111"/>
              </a:solidFill>
              <a:latin typeface="Georgia"/>
              <a:ea typeface="Georgia"/>
              <a:cs typeface="Georgia"/>
              <a:sym typeface="Georgia"/>
            </a:endParaRPr>
          </a:p>
          <a:p>
            <a:pPr indent="-381000" lvl="0" marL="457200" rtl="0" algn="l">
              <a:spcBef>
                <a:spcPts val="0"/>
              </a:spcBef>
              <a:spcAft>
                <a:spcPts val="0"/>
              </a:spcAft>
              <a:buClr>
                <a:srgbClr val="111111"/>
              </a:buClr>
              <a:buSzPts val="2400"/>
              <a:buFont typeface="Georgia"/>
              <a:buChar char="-"/>
            </a:pPr>
            <a:r>
              <a:rPr lang="en" sz="2400">
                <a:solidFill>
                  <a:srgbClr val="111111"/>
                </a:solidFill>
                <a:latin typeface="Georgia"/>
                <a:ea typeface="Georgia"/>
                <a:cs typeface="Georgia"/>
                <a:sym typeface="Georgia"/>
              </a:rPr>
              <a:t>Short reads → </a:t>
            </a:r>
            <a:endParaRPr sz="2400">
              <a:solidFill>
                <a:srgbClr val="111111"/>
              </a:solidFill>
              <a:latin typeface="Georgia"/>
              <a:ea typeface="Georgia"/>
              <a:cs typeface="Georgia"/>
              <a:sym typeface="Georgia"/>
            </a:endParaRPr>
          </a:p>
          <a:p>
            <a:pPr indent="0" lvl="0" marL="0" rtl="0" algn="l">
              <a:spcBef>
                <a:spcPts val="0"/>
              </a:spcBef>
              <a:spcAft>
                <a:spcPts val="0"/>
              </a:spcAft>
              <a:buNone/>
            </a:pPr>
            <a:r>
              <a:t/>
            </a:r>
            <a:endParaRPr sz="2400">
              <a:solidFill>
                <a:srgbClr val="111111"/>
              </a:solidFill>
              <a:latin typeface="Georgia"/>
              <a:ea typeface="Georgia"/>
              <a:cs typeface="Georgia"/>
              <a:sym typeface="Georgia"/>
            </a:endParaRPr>
          </a:p>
          <a:p>
            <a:pPr indent="0" lvl="0" marL="0" rtl="0" algn="l">
              <a:spcBef>
                <a:spcPts val="0"/>
              </a:spcBef>
              <a:spcAft>
                <a:spcPts val="0"/>
              </a:spcAft>
              <a:buNone/>
            </a:pPr>
            <a:r>
              <a:t/>
            </a:r>
            <a:endParaRPr sz="2400">
              <a:solidFill>
                <a:srgbClr val="111111"/>
              </a:solidFill>
              <a:latin typeface="Georgia"/>
              <a:ea typeface="Georgia"/>
              <a:cs typeface="Georgia"/>
              <a:sym typeface="Georgia"/>
            </a:endParaRPr>
          </a:p>
          <a:p>
            <a:pPr indent="-381000" lvl="0" marL="457200" rtl="0" algn="l">
              <a:spcBef>
                <a:spcPts val="0"/>
              </a:spcBef>
              <a:spcAft>
                <a:spcPts val="0"/>
              </a:spcAft>
              <a:buClr>
                <a:srgbClr val="111111"/>
              </a:buClr>
              <a:buSzPts val="2400"/>
              <a:buFont typeface="Georgia"/>
              <a:buChar char="-"/>
            </a:pPr>
            <a:r>
              <a:rPr lang="en" sz="2400">
                <a:solidFill>
                  <a:srgbClr val="111111"/>
                </a:solidFill>
                <a:latin typeface="Georgia"/>
                <a:ea typeface="Georgia"/>
                <a:cs typeface="Georgia"/>
                <a:sym typeface="Georgia"/>
              </a:rPr>
              <a:t>Long reads → </a:t>
            </a:r>
            <a:endParaRPr sz="2400">
              <a:solidFill>
                <a:srgbClr val="111111"/>
              </a:solidFill>
              <a:latin typeface="Georgia"/>
              <a:ea typeface="Georgia"/>
              <a:cs typeface="Georgia"/>
              <a:sym typeface="Georgia"/>
            </a:endParaRPr>
          </a:p>
        </p:txBody>
      </p:sp>
      <p:sp>
        <p:nvSpPr>
          <p:cNvPr id="158" name="Google Shape;158;p19"/>
          <p:cNvSpPr/>
          <p:nvPr/>
        </p:nvSpPr>
        <p:spPr>
          <a:xfrm>
            <a:off x="4305072" y="1646434"/>
            <a:ext cx="258522" cy="258538"/>
          </a:xfrm>
          <a:custGeom>
            <a:rect b="b" l="l" r="r" t="t"/>
            <a:pathLst>
              <a:path extrusionOk="0" fill="none" h="16222" w="16221">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cap="rnd" cmpd="sng" w="121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a:off x="4305072" y="2719672"/>
            <a:ext cx="258522" cy="258538"/>
          </a:xfrm>
          <a:custGeom>
            <a:rect b="b" l="l" r="r" t="t"/>
            <a:pathLst>
              <a:path extrusionOk="0" fill="none" h="16222" w="16221">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cap="rnd" cmpd="sng" w="121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4303903" y="1987783"/>
            <a:ext cx="260849" cy="260865"/>
          </a:xfrm>
          <a:custGeom>
            <a:rect b="b" l="l" r="r" t="t"/>
            <a:pathLst>
              <a:path extrusionOk="0" fill="none" h="16368" w="16367">
                <a:moveTo>
                  <a:pt x="16074" y="4385"/>
                </a:moveTo>
                <a:lnTo>
                  <a:pt x="11983" y="293"/>
                </a:lnTo>
                <a:lnTo>
                  <a:pt x="11983" y="293"/>
                </a:lnTo>
                <a:lnTo>
                  <a:pt x="11812" y="171"/>
                </a:lnTo>
                <a:lnTo>
                  <a:pt x="11642" y="74"/>
                </a:lnTo>
                <a:lnTo>
                  <a:pt x="11447" y="25"/>
                </a:lnTo>
                <a:lnTo>
                  <a:pt x="11252" y="1"/>
                </a:lnTo>
                <a:lnTo>
                  <a:pt x="5115" y="1"/>
                </a:lnTo>
                <a:lnTo>
                  <a:pt x="5115" y="1"/>
                </a:lnTo>
                <a:lnTo>
                  <a:pt x="4920" y="25"/>
                </a:lnTo>
                <a:lnTo>
                  <a:pt x="4725" y="74"/>
                </a:lnTo>
                <a:lnTo>
                  <a:pt x="4554" y="171"/>
                </a:lnTo>
                <a:lnTo>
                  <a:pt x="4384" y="293"/>
                </a:lnTo>
                <a:lnTo>
                  <a:pt x="292" y="4385"/>
                </a:lnTo>
                <a:lnTo>
                  <a:pt x="292" y="4385"/>
                </a:lnTo>
                <a:lnTo>
                  <a:pt x="171" y="4555"/>
                </a:lnTo>
                <a:lnTo>
                  <a:pt x="73" y="4726"/>
                </a:lnTo>
                <a:lnTo>
                  <a:pt x="24" y="4921"/>
                </a:lnTo>
                <a:lnTo>
                  <a:pt x="0" y="5115"/>
                </a:lnTo>
                <a:lnTo>
                  <a:pt x="0" y="11253"/>
                </a:lnTo>
                <a:lnTo>
                  <a:pt x="0" y="11253"/>
                </a:lnTo>
                <a:lnTo>
                  <a:pt x="24" y="11448"/>
                </a:lnTo>
                <a:lnTo>
                  <a:pt x="73" y="11642"/>
                </a:lnTo>
                <a:lnTo>
                  <a:pt x="171" y="11813"/>
                </a:lnTo>
                <a:lnTo>
                  <a:pt x="292" y="11983"/>
                </a:lnTo>
                <a:lnTo>
                  <a:pt x="4384" y="16075"/>
                </a:lnTo>
                <a:lnTo>
                  <a:pt x="4384" y="16075"/>
                </a:lnTo>
                <a:lnTo>
                  <a:pt x="4554" y="16197"/>
                </a:lnTo>
                <a:lnTo>
                  <a:pt x="4725" y="16294"/>
                </a:lnTo>
                <a:lnTo>
                  <a:pt x="4920" y="16343"/>
                </a:lnTo>
                <a:lnTo>
                  <a:pt x="5115" y="16367"/>
                </a:lnTo>
                <a:lnTo>
                  <a:pt x="11252" y="16367"/>
                </a:lnTo>
                <a:lnTo>
                  <a:pt x="11252" y="16367"/>
                </a:lnTo>
                <a:lnTo>
                  <a:pt x="11447" y="16343"/>
                </a:lnTo>
                <a:lnTo>
                  <a:pt x="11642" y="16294"/>
                </a:lnTo>
                <a:lnTo>
                  <a:pt x="11812" y="16197"/>
                </a:lnTo>
                <a:lnTo>
                  <a:pt x="11983" y="16075"/>
                </a:lnTo>
                <a:lnTo>
                  <a:pt x="16074" y="11983"/>
                </a:lnTo>
                <a:lnTo>
                  <a:pt x="16074" y="11983"/>
                </a:lnTo>
                <a:lnTo>
                  <a:pt x="16196" y="11813"/>
                </a:lnTo>
                <a:lnTo>
                  <a:pt x="16294" y="11642"/>
                </a:lnTo>
                <a:lnTo>
                  <a:pt x="16342" y="11448"/>
                </a:lnTo>
                <a:lnTo>
                  <a:pt x="16367" y="11253"/>
                </a:lnTo>
                <a:lnTo>
                  <a:pt x="16367" y="5115"/>
                </a:lnTo>
                <a:lnTo>
                  <a:pt x="16367" y="5115"/>
                </a:lnTo>
                <a:lnTo>
                  <a:pt x="16342" y="4921"/>
                </a:lnTo>
                <a:lnTo>
                  <a:pt x="16294" y="4726"/>
                </a:lnTo>
                <a:lnTo>
                  <a:pt x="16196" y="4555"/>
                </a:lnTo>
                <a:lnTo>
                  <a:pt x="16074" y="4385"/>
                </a:lnTo>
                <a:lnTo>
                  <a:pt x="16074" y="4385"/>
                </a:lnTo>
                <a:close/>
                <a:moveTo>
                  <a:pt x="9864" y="8452"/>
                </a:moveTo>
                <a:lnTo>
                  <a:pt x="11203" y="9792"/>
                </a:lnTo>
                <a:lnTo>
                  <a:pt x="11203" y="9792"/>
                </a:lnTo>
                <a:lnTo>
                  <a:pt x="11252" y="9840"/>
                </a:lnTo>
                <a:lnTo>
                  <a:pt x="11276" y="9913"/>
                </a:lnTo>
                <a:lnTo>
                  <a:pt x="11301" y="10059"/>
                </a:lnTo>
                <a:lnTo>
                  <a:pt x="11276" y="10206"/>
                </a:lnTo>
                <a:lnTo>
                  <a:pt x="11252" y="10279"/>
                </a:lnTo>
                <a:lnTo>
                  <a:pt x="11203" y="10327"/>
                </a:lnTo>
                <a:lnTo>
                  <a:pt x="10327" y="11204"/>
                </a:lnTo>
                <a:lnTo>
                  <a:pt x="10327" y="11204"/>
                </a:lnTo>
                <a:lnTo>
                  <a:pt x="10278" y="11253"/>
                </a:lnTo>
                <a:lnTo>
                  <a:pt x="10205" y="11277"/>
                </a:lnTo>
                <a:lnTo>
                  <a:pt x="10059" y="11302"/>
                </a:lnTo>
                <a:lnTo>
                  <a:pt x="9913" y="11277"/>
                </a:lnTo>
                <a:lnTo>
                  <a:pt x="9840" y="11253"/>
                </a:lnTo>
                <a:lnTo>
                  <a:pt x="9791" y="11204"/>
                </a:lnTo>
                <a:lnTo>
                  <a:pt x="8451" y="9865"/>
                </a:lnTo>
                <a:lnTo>
                  <a:pt x="8451" y="9865"/>
                </a:lnTo>
                <a:lnTo>
                  <a:pt x="8403" y="9816"/>
                </a:lnTo>
                <a:lnTo>
                  <a:pt x="8330" y="9792"/>
                </a:lnTo>
                <a:lnTo>
                  <a:pt x="8183" y="9767"/>
                </a:lnTo>
                <a:lnTo>
                  <a:pt x="8037" y="9792"/>
                </a:lnTo>
                <a:lnTo>
                  <a:pt x="7964" y="9816"/>
                </a:lnTo>
                <a:lnTo>
                  <a:pt x="7915" y="9865"/>
                </a:lnTo>
                <a:lnTo>
                  <a:pt x="6576" y="11204"/>
                </a:lnTo>
                <a:lnTo>
                  <a:pt x="6576" y="11204"/>
                </a:lnTo>
                <a:lnTo>
                  <a:pt x="6527" y="11253"/>
                </a:lnTo>
                <a:lnTo>
                  <a:pt x="6454" y="11277"/>
                </a:lnTo>
                <a:lnTo>
                  <a:pt x="6308" y="11302"/>
                </a:lnTo>
                <a:lnTo>
                  <a:pt x="6162" y="11277"/>
                </a:lnTo>
                <a:lnTo>
                  <a:pt x="6089" y="11253"/>
                </a:lnTo>
                <a:lnTo>
                  <a:pt x="6040" y="11204"/>
                </a:lnTo>
                <a:lnTo>
                  <a:pt x="5163" y="10327"/>
                </a:lnTo>
                <a:lnTo>
                  <a:pt x="5163" y="10327"/>
                </a:lnTo>
                <a:lnTo>
                  <a:pt x="5115" y="10279"/>
                </a:lnTo>
                <a:lnTo>
                  <a:pt x="5090" y="10206"/>
                </a:lnTo>
                <a:lnTo>
                  <a:pt x="5066" y="10059"/>
                </a:lnTo>
                <a:lnTo>
                  <a:pt x="5090" y="9913"/>
                </a:lnTo>
                <a:lnTo>
                  <a:pt x="5115" y="9840"/>
                </a:lnTo>
                <a:lnTo>
                  <a:pt x="5163" y="9792"/>
                </a:lnTo>
                <a:lnTo>
                  <a:pt x="6503" y="8452"/>
                </a:lnTo>
                <a:lnTo>
                  <a:pt x="6503" y="8452"/>
                </a:lnTo>
                <a:lnTo>
                  <a:pt x="6552" y="8403"/>
                </a:lnTo>
                <a:lnTo>
                  <a:pt x="6576" y="8330"/>
                </a:lnTo>
                <a:lnTo>
                  <a:pt x="6600" y="8184"/>
                </a:lnTo>
                <a:lnTo>
                  <a:pt x="6576" y="8038"/>
                </a:lnTo>
                <a:lnTo>
                  <a:pt x="6552" y="7965"/>
                </a:lnTo>
                <a:lnTo>
                  <a:pt x="6503" y="7916"/>
                </a:lnTo>
                <a:lnTo>
                  <a:pt x="5163" y="6577"/>
                </a:lnTo>
                <a:lnTo>
                  <a:pt x="5163" y="6577"/>
                </a:lnTo>
                <a:lnTo>
                  <a:pt x="5115" y="6528"/>
                </a:lnTo>
                <a:lnTo>
                  <a:pt x="5090" y="6455"/>
                </a:lnTo>
                <a:lnTo>
                  <a:pt x="5066" y="6309"/>
                </a:lnTo>
                <a:lnTo>
                  <a:pt x="5090" y="6163"/>
                </a:lnTo>
                <a:lnTo>
                  <a:pt x="5115" y="6090"/>
                </a:lnTo>
                <a:lnTo>
                  <a:pt x="5163" y="6041"/>
                </a:lnTo>
                <a:lnTo>
                  <a:pt x="6040" y="5164"/>
                </a:lnTo>
                <a:lnTo>
                  <a:pt x="6040" y="5164"/>
                </a:lnTo>
                <a:lnTo>
                  <a:pt x="6089" y="5115"/>
                </a:lnTo>
                <a:lnTo>
                  <a:pt x="6162" y="5091"/>
                </a:lnTo>
                <a:lnTo>
                  <a:pt x="6308" y="5067"/>
                </a:lnTo>
                <a:lnTo>
                  <a:pt x="6454" y="5091"/>
                </a:lnTo>
                <a:lnTo>
                  <a:pt x="6527" y="5115"/>
                </a:lnTo>
                <a:lnTo>
                  <a:pt x="6576" y="5164"/>
                </a:lnTo>
                <a:lnTo>
                  <a:pt x="7915" y="6504"/>
                </a:lnTo>
                <a:lnTo>
                  <a:pt x="7915" y="6504"/>
                </a:lnTo>
                <a:lnTo>
                  <a:pt x="7964" y="6552"/>
                </a:lnTo>
                <a:lnTo>
                  <a:pt x="8037" y="6577"/>
                </a:lnTo>
                <a:lnTo>
                  <a:pt x="8183" y="6601"/>
                </a:lnTo>
                <a:lnTo>
                  <a:pt x="8330" y="6577"/>
                </a:lnTo>
                <a:lnTo>
                  <a:pt x="8403" y="6552"/>
                </a:lnTo>
                <a:lnTo>
                  <a:pt x="8451" y="6504"/>
                </a:lnTo>
                <a:lnTo>
                  <a:pt x="9791" y="5164"/>
                </a:lnTo>
                <a:lnTo>
                  <a:pt x="9791" y="5164"/>
                </a:lnTo>
                <a:lnTo>
                  <a:pt x="9840" y="5115"/>
                </a:lnTo>
                <a:lnTo>
                  <a:pt x="9913" y="5091"/>
                </a:lnTo>
                <a:lnTo>
                  <a:pt x="10059" y="5067"/>
                </a:lnTo>
                <a:lnTo>
                  <a:pt x="10205" y="5091"/>
                </a:lnTo>
                <a:lnTo>
                  <a:pt x="10278" y="5115"/>
                </a:lnTo>
                <a:lnTo>
                  <a:pt x="10327" y="5164"/>
                </a:lnTo>
                <a:lnTo>
                  <a:pt x="11203" y="6041"/>
                </a:lnTo>
                <a:lnTo>
                  <a:pt x="11203" y="6041"/>
                </a:lnTo>
                <a:lnTo>
                  <a:pt x="11252" y="6090"/>
                </a:lnTo>
                <a:lnTo>
                  <a:pt x="11276" y="6163"/>
                </a:lnTo>
                <a:lnTo>
                  <a:pt x="11301" y="6309"/>
                </a:lnTo>
                <a:lnTo>
                  <a:pt x="11276" y="6455"/>
                </a:lnTo>
                <a:lnTo>
                  <a:pt x="11252" y="6528"/>
                </a:lnTo>
                <a:lnTo>
                  <a:pt x="11203" y="6577"/>
                </a:lnTo>
                <a:lnTo>
                  <a:pt x="9864" y="7916"/>
                </a:lnTo>
                <a:lnTo>
                  <a:pt x="9864" y="7916"/>
                </a:lnTo>
                <a:lnTo>
                  <a:pt x="9815" y="7965"/>
                </a:lnTo>
                <a:lnTo>
                  <a:pt x="9791" y="8038"/>
                </a:lnTo>
                <a:lnTo>
                  <a:pt x="9766" y="8184"/>
                </a:lnTo>
                <a:lnTo>
                  <a:pt x="9791" y="8330"/>
                </a:lnTo>
                <a:lnTo>
                  <a:pt x="9815" y="8403"/>
                </a:lnTo>
                <a:lnTo>
                  <a:pt x="9864" y="8452"/>
                </a:lnTo>
                <a:lnTo>
                  <a:pt x="9864" y="8452"/>
                </a:lnTo>
                <a:close/>
              </a:path>
            </a:pathLst>
          </a:custGeom>
          <a:noFill/>
          <a:ln cap="rnd" cmpd="sng" w="121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4303891" y="3058708"/>
            <a:ext cx="260849" cy="260865"/>
          </a:xfrm>
          <a:custGeom>
            <a:rect b="b" l="l" r="r" t="t"/>
            <a:pathLst>
              <a:path extrusionOk="0" fill="none" h="16368" w="16367">
                <a:moveTo>
                  <a:pt x="16074" y="4385"/>
                </a:moveTo>
                <a:lnTo>
                  <a:pt x="11983" y="293"/>
                </a:lnTo>
                <a:lnTo>
                  <a:pt x="11983" y="293"/>
                </a:lnTo>
                <a:lnTo>
                  <a:pt x="11812" y="171"/>
                </a:lnTo>
                <a:lnTo>
                  <a:pt x="11642" y="74"/>
                </a:lnTo>
                <a:lnTo>
                  <a:pt x="11447" y="25"/>
                </a:lnTo>
                <a:lnTo>
                  <a:pt x="11252" y="1"/>
                </a:lnTo>
                <a:lnTo>
                  <a:pt x="5115" y="1"/>
                </a:lnTo>
                <a:lnTo>
                  <a:pt x="5115" y="1"/>
                </a:lnTo>
                <a:lnTo>
                  <a:pt x="4920" y="25"/>
                </a:lnTo>
                <a:lnTo>
                  <a:pt x="4725" y="74"/>
                </a:lnTo>
                <a:lnTo>
                  <a:pt x="4554" y="171"/>
                </a:lnTo>
                <a:lnTo>
                  <a:pt x="4384" y="293"/>
                </a:lnTo>
                <a:lnTo>
                  <a:pt x="292" y="4385"/>
                </a:lnTo>
                <a:lnTo>
                  <a:pt x="292" y="4385"/>
                </a:lnTo>
                <a:lnTo>
                  <a:pt x="171" y="4555"/>
                </a:lnTo>
                <a:lnTo>
                  <a:pt x="73" y="4726"/>
                </a:lnTo>
                <a:lnTo>
                  <a:pt x="24" y="4921"/>
                </a:lnTo>
                <a:lnTo>
                  <a:pt x="0" y="5115"/>
                </a:lnTo>
                <a:lnTo>
                  <a:pt x="0" y="11253"/>
                </a:lnTo>
                <a:lnTo>
                  <a:pt x="0" y="11253"/>
                </a:lnTo>
                <a:lnTo>
                  <a:pt x="24" y="11448"/>
                </a:lnTo>
                <a:lnTo>
                  <a:pt x="73" y="11642"/>
                </a:lnTo>
                <a:lnTo>
                  <a:pt x="171" y="11813"/>
                </a:lnTo>
                <a:lnTo>
                  <a:pt x="292" y="11983"/>
                </a:lnTo>
                <a:lnTo>
                  <a:pt x="4384" y="16075"/>
                </a:lnTo>
                <a:lnTo>
                  <a:pt x="4384" y="16075"/>
                </a:lnTo>
                <a:lnTo>
                  <a:pt x="4554" y="16197"/>
                </a:lnTo>
                <a:lnTo>
                  <a:pt x="4725" y="16294"/>
                </a:lnTo>
                <a:lnTo>
                  <a:pt x="4920" y="16343"/>
                </a:lnTo>
                <a:lnTo>
                  <a:pt x="5115" y="16367"/>
                </a:lnTo>
                <a:lnTo>
                  <a:pt x="11252" y="16367"/>
                </a:lnTo>
                <a:lnTo>
                  <a:pt x="11252" y="16367"/>
                </a:lnTo>
                <a:lnTo>
                  <a:pt x="11447" y="16343"/>
                </a:lnTo>
                <a:lnTo>
                  <a:pt x="11642" y="16294"/>
                </a:lnTo>
                <a:lnTo>
                  <a:pt x="11812" y="16197"/>
                </a:lnTo>
                <a:lnTo>
                  <a:pt x="11983" y="16075"/>
                </a:lnTo>
                <a:lnTo>
                  <a:pt x="16074" y="11983"/>
                </a:lnTo>
                <a:lnTo>
                  <a:pt x="16074" y="11983"/>
                </a:lnTo>
                <a:lnTo>
                  <a:pt x="16196" y="11813"/>
                </a:lnTo>
                <a:lnTo>
                  <a:pt x="16294" y="11642"/>
                </a:lnTo>
                <a:lnTo>
                  <a:pt x="16342" y="11448"/>
                </a:lnTo>
                <a:lnTo>
                  <a:pt x="16367" y="11253"/>
                </a:lnTo>
                <a:lnTo>
                  <a:pt x="16367" y="5115"/>
                </a:lnTo>
                <a:lnTo>
                  <a:pt x="16367" y="5115"/>
                </a:lnTo>
                <a:lnTo>
                  <a:pt x="16342" y="4921"/>
                </a:lnTo>
                <a:lnTo>
                  <a:pt x="16294" y="4726"/>
                </a:lnTo>
                <a:lnTo>
                  <a:pt x="16196" y="4555"/>
                </a:lnTo>
                <a:lnTo>
                  <a:pt x="16074" y="4385"/>
                </a:lnTo>
                <a:lnTo>
                  <a:pt x="16074" y="4385"/>
                </a:lnTo>
                <a:close/>
                <a:moveTo>
                  <a:pt x="9864" y="8452"/>
                </a:moveTo>
                <a:lnTo>
                  <a:pt x="11203" y="9792"/>
                </a:lnTo>
                <a:lnTo>
                  <a:pt x="11203" y="9792"/>
                </a:lnTo>
                <a:lnTo>
                  <a:pt x="11252" y="9840"/>
                </a:lnTo>
                <a:lnTo>
                  <a:pt x="11276" y="9913"/>
                </a:lnTo>
                <a:lnTo>
                  <a:pt x="11301" y="10059"/>
                </a:lnTo>
                <a:lnTo>
                  <a:pt x="11276" y="10206"/>
                </a:lnTo>
                <a:lnTo>
                  <a:pt x="11252" y="10279"/>
                </a:lnTo>
                <a:lnTo>
                  <a:pt x="11203" y="10327"/>
                </a:lnTo>
                <a:lnTo>
                  <a:pt x="10327" y="11204"/>
                </a:lnTo>
                <a:lnTo>
                  <a:pt x="10327" y="11204"/>
                </a:lnTo>
                <a:lnTo>
                  <a:pt x="10278" y="11253"/>
                </a:lnTo>
                <a:lnTo>
                  <a:pt x="10205" y="11277"/>
                </a:lnTo>
                <a:lnTo>
                  <a:pt x="10059" y="11302"/>
                </a:lnTo>
                <a:lnTo>
                  <a:pt x="9913" y="11277"/>
                </a:lnTo>
                <a:lnTo>
                  <a:pt x="9840" y="11253"/>
                </a:lnTo>
                <a:lnTo>
                  <a:pt x="9791" y="11204"/>
                </a:lnTo>
                <a:lnTo>
                  <a:pt x="8451" y="9865"/>
                </a:lnTo>
                <a:lnTo>
                  <a:pt x="8451" y="9865"/>
                </a:lnTo>
                <a:lnTo>
                  <a:pt x="8403" y="9816"/>
                </a:lnTo>
                <a:lnTo>
                  <a:pt x="8330" y="9792"/>
                </a:lnTo>
                <a:lnTo>
                  <a:pt x="8183" y="9767"/>
                </a:lnTo>
                <a:lnTo>
                  <a:pt x="8037" y="9792"/>
                </a:lnTo>
                <a:lnTo>
                  <a:pt x="7964" y="9816"/>
                </a:lnTo>
                <a:lnTo>
                  <a:pt x="7915" y="9865"/>
                </a:lnTo>
                <a:lnTo>
                  <a:pt x="6576" y="11204"/>
                </a:lnTo>
                <a:lnTo>
                  <a:pt x="6576" y="11204"/>
                </a:lnTo>
                <a:lnTo>
                  <a:pt x="6527" y="11253"/>
                </a:lnTo>
                <a:lnTo>
                  <a:pt x="6454" y="11277"/>
                </a:lnTo>
                <a:lnTo>
                  <a:pt x="6308" y="11302"/>
                </a:lnTo>
                <a:lnTo>
                  <a:pt x="6162" y="11277"/>
                </a:lnTo>
                <a:lnTo>
                  <a:pt x="6089" y="11253"/>
                </a:lnTo>
                <a:lnTo>
                  <a:pt x="6040" y="11204"/>
                </a:lnTo>
                <a:lnTo>
                  <a:pt x="5163" y="10327"/>
                </a:lnTo>
                <a:lnTo>
                  <a:pt x="5163" y="10327"/>
                </a:lnTo>
                <a:lnTo>
                  <a:pt x="5115" y="10279"/>
                </a:lnTo>
                <a:lnTo>
                  <a:pt x="5090" y="10206"/>
                </a:lnTo>
                <a:lnTo>
                  <a:pt x="5066" y="10059"/>
                </a:lnTo>
                <a:lnTo>
                  <a:pt x="5090" y="9913"/>
                </a:lnTo>
                <a:lnTo>
                  <a:pt x="5115" y="9840"/>
                </a:lnTo>
                <a:lnTo>
                  <a:pt x="5163" y="9792"/>
                </a:lnTo>
                <a:lnTo>
                  <a:pt x="6503" y="8452"/>
                </a:lnTo>
                <a:lnTo>
                  <a:pt x="6503" y="8452"/>
                </a:lnTo>
                <a:lnTo>
                  <a:pt x="6552" y="8403"/>
                </a:lnTo>
                <a:lnTo>
                  <a:pt x="6576" y="8330"/>
                </a:lnTo>
                <a:lnTo>
                  <a:pt x="6600" y="8184"/>
                </a:lnTo>
                <a:lnTo>
                  <a:pt x="6576" y="8038"/>
                </a:lnTo>
                <a:lnTo>
                  <a:pt x="6552" y="7965"/>
                </a:lnTo>
                <a:lnTo>
                  <a:pt x="6503" y="7916"/>
                </a:lnTo>
                <a:lnTo>
                  <a:pt x="5163" y="6577"/>
                </a:lnTo>
                <a:lnTo>
                  <a:pt x="5163" y="6577"/>
                </a:lnTo>
                <a:lnTo>
                  <a:pt x="5115" y="6528"/>
                </a:lnTo>
                <a:lnTo>
                  <a:pt x="5090" y="6455"/>
                </a:lnTo>
                <a:lnTo>
                  <a:pt x="5066" y="6309"/>
                </a:lnTo>
                <a:lnTo>
                  <a:pt x="5090" y="6163"/>
                </a:lnTo>
                <a:lnTo>
                  <a:pt x="5115" y="6090"/>
                </a:lnTo>
                <a:lnTo>
                  <a:pt x="5163" y="6041"/>
                </a:lnTo>
                <a:lnTo>
                  <a:pt x="6040" y="5164"/>
                </a:lnTo>
                <a:lnTo>
                  <a:pt x="6040" y="5164"/>
                </a:lnTo>
                <a:lnTo>
                  <a:pt x="6089" y="5115"/>
                </a:lnTo>
                <a:lnTo>
                  <a:pt x="6162" y="5091"/>
                </a:lnTo>
                <a:lnTo>
                  <a:pt x="6308" y="5067"/>
                </a:lnTo>
                <a:lnTo>
                  <a:pt x="6454" y="5091"/>
                </a:lnTo>
                <a:lnTo>
                  <a:pt x="6527" y="5115"/>
                </a:lnTo>
                <a:lnTo>
                  <a:pt x="6576" y="5164"/>
                </a:lnTo>
                <a:lnTo>
                  <a:pt x="7915" y="6504"/>
                </a:lnTo>
                <a:lnTo>
                  <a:pt x="7915" y="6504"/>
                </a:lnTo>
                <a:lnTo>
                  <a:pt x="7964" y="6552"/>
                </a:lnTo>
                <a:lnTo>
                  <a:pt x="8037" y="6577"/>
                </a:lnTo>
                <a:lnTo>
                  <a:pt x="8183" y="6601"/>
                </a:lnTo>
                <a:lnTo>
                  <a:pt x="8330" y="6577"/>
                </a:lnTo>
                <a:lnTo>
                  <a:pt x="8403" y="6552"/>
                </a:lnTo>
                <a:lnTo>
                  <a:pt x="8451" y="6504"/>
                </a:lnTo>
                <a:lnTo>
                  <a:pt x="9791" y="5164"/>
                </a:lnTo>
                <a:lnTo>
                  <a:pt x="9791" y="5164"/>
                </a:lnTo>
                <a:lnTo>
                  <a:pt x="9840" y="5115"/>
                </a:lnTo>
                <a:lnTo>
                  <a:pt x="9913" y="5091"/>
                </a:lnTo>
                <a:lnTo>
                  <a:pt x="10059" y="5067"/>
                </a:lnTo>
                <a:lnTo>
                  <a:pt x="10205" y="5091"/>
                </a:lnTo>
                <a:lnTo>
                  <a:pt x="10278" y="5115"/>
                </a:lnTo>
                <a:lnTo>
                  <a:pt x="10327" y="5164"/>
                </a:lnTo>
                <a:lnTo>
                  <a:pt x="11203" y="6041"/>
                </a:lnTo>
                <a:lnTo>
                  <a:pt x="11203" y="6041"/>
                </a:lnTo>
                <a:lnTo>
                  <a:pt x="11252" y="6090"/>
                </a:lnTo>
                <a:lnTo>
                  <a:pt x="11276" y="6163"/>
                </a:lnTo>
                <a:lnTo>
                  <a:pt x="11301" y="6309"/>
                </a:lnTo>
                <a:lnTo>
                  <a:pt x="11276" y="6455"/>
                </a:lnTo>
                <a:lnTo>
                  <a:pt x="11252" y="6528"/>
                </a:lnTo>
                <a:lnTo>
                  <a:pt x="11203" y="6577"/>
                </a:lnTo>
                <a:lnTo>
                  <a:pt x="9864" y="7916"/>
                </a:lnTo>
                <a:lnTo>
                  <a:pt x="9864" y="7916"/>
                </a:lnTo>
                <a:lnTo>
                  <a:pt x="9815" y="7965"/>
                </a:lnTo>
                <a:lnTo>
                  <a:pt x="9791" y="8038"/>
                </a:lnTo>
                <a:lnTo>
                  <a:pt x="9766" y="8184"/>
                </a:lnTo>
                <a:lnTo>
                  <a:pt x="9791" y="8330"/>
                </a:lnTo>
                <a:lnTo>
                  <a:pt x="9815" y="8403"/>
                </a:lnTo>
                <a:lnTo>
                  <a:pt x="9864" y="8452"/>
                </a:lnTo>
                <a:lnTo>
                  <a:pt x="9864" y="8452"/>
                </a:lnTo>
                <a:close/>
              </a:path>
            </a:pathLst>
          </a:custGeom>
          <a:noFill/>
          <a:ln cap="rnd" cmpd="sng" w="121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txBox="1"/>
          <p:nvPr/>
        </p:nvSpPr>
        <p:spPr>
          <a:xfrm>
            <a:off x="4563602" y="1588534"/>
            <a:ext cx="25854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11111"/>
                </a:solidFill>
                <a:latin typeface="Georgia"/>
                <a:ea typeface="Georgia"/>
                <a:cs typeface="Georgia"/>
                <a:sym typeface="Georgia"/>
              </a:rPr>
              <a:t>Cheaper and accurate</a:t>
            </a:r>
            <a:endParaRPr sz="1300">
              <a:solidFill>
                <a:srgbClr val="111111"/>
              </a:solidFill>
              <a:latin typeface="Georgia"/>
              <a:ea typeface="Georgia"/>
              <a:cs typeface="Georgia"/>
              <a:sym typeface="Georgia"/>
            </a:endParaRPr>
          </a:p>
          <a:p>
            <a:pPr indent="0" lvl="0" marL="0" rtl="0" algn="l">
              <a:spcBef>
                <a:spcPts val="0"/>
              </a:spcBef>
              <a:spcAft>
                <a:spcPts val="0"/>
              </a:spcAft>
              <a:buNone/>
            </a:pPr>
            <a:r>
              <a:t/>
            </a:r>
            <a:endParaRPr sz="1000">
              <a:solidFill>
                <a:srgbClr val="111111"/>
              </a:solidFill>
              <a:latin typeface="Georgia"/>
              <a:ea typeface="Georgia"/>
              <a:cs typeface="Georgia"/>
              <a:sym typeface="Georgia"/>
            </a:endParaRPr>
          </a:p>
          <a:p>
            <a:pPr indent="0" lvl="0" marL="0" rtl="0" algn="l">
              <a:spcBef>
                <a:spcPts val="0"/>
              </a:spcBef>
              <a:spcAft>
                <a:spcPts val="0"/>
              </a:spcAft>
              <a:buNone/>
            </a:pPr>
            <a:r>
              <a:rPr lang="en" sz="1300">
                <a:solidFill>
                  <a:srgbClr val="111111"/>
                </a:solidFill>
                <a:latin typeface="Georgia"/>
                <a:ea typeface="Georgia"/>
                <a:cs typeface="Georgia"/>
                <a:sym typeface="Georgia"/>
              </a:rPr>
              <a:t>Struggle with repeated nodes</a:t>
            </a:r>
            <a:endParaRPr sz="1300">
              <a:solidFill>
                <a:srgbClr val="111111"/>
              </a:solidFill>
              <a:latin typeface="Georgia"/>
              <a:ea typeface="Georgia"/>
              <a:cs typeface="Georgia"/>
              <a:sym typeface="Georgia"/>
            </a:endParaRPr>
          </a:p>
        </p:txBody>
      </p:sp>
      <p:sp>
        <p:nvSpPr>
          <p:cNvPr id="163" name="Google Shape;163;p19"/>
          <p:cNvSpPr txBox="1"/>
          <p:nvPr/>
        </p:nvSpPr>
        <p:spPr>
          <a:xfrm>
            <a:off x="4579932" y="2693484"/>
            <a:ext cx="2585400" cy="6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11111"/>
                </a:solidFill>
                <a:latin typeface="Georgia"/>
                <a:ea typeface="Georgia"/>
                <a:cs typeface="Georgia"/>
                <a:sym typeface="Georgia"/>
              </a:rPr>
              <a:t>Assemble complete genomes</a:t>
            </a:r>
            <a:endParaRPr sz="1300">
              <a:solidFill>
                <a:srgbClr val="111111"/>
              </a:solidFill>
              <a:latin typeface="Georgia"/>
              <a:ea typeface="Georgia"/>
              <a:cs typeface="Georgia"/>
              <a:sym typeface="Georgia"/>
            </a:endParaRPr>
          </a:p>
          <a:p>
            <a:pPr indent="0" lvl="0" marL="0" rtl="0" algn="l">
              <a:spcBef>
                <a:spcPts val="0"/>
              </a:spcBef>
              <a:spcAft>
                <a:spcPts val="0"/>
              </a:spcAft>
              <a:buNone/>
            </a:pPr>
            <a:r>
              <a:t/>
            </a:r>
            <a:endParaRPr sz="1000">
              <a:solidFill>
                <a:srgbClr val="111111"/>
              </a:solidFill>
              <a:latin typeface="Georgia"/>
              <a:ea typeface="Georgia"/>
              <a:cs typeface="Georgia"/>
              <a:sym typeface="Georgia"/>
            </a:endParaRPr>
          </a:p>
          <a:p>
            <a:pPr indent="0" lvl="0" marL="0" rtl="0" algn="l">
              <a:spcBef>
                <a:spcPts val="0"/>
              </a:spcBef>
              <a:spcAft>
                <a:spcPts val="0"/>
              </a:spcAft>
              <a:buNone/>
            </a:pPr>
            <a:r>
              <a:rPr lang="en" sz="1300">
                <a:solidFill>
                  <a:srgbClr val="111111"/>
                </a:solidFill>
                <a:latin typeface="Georgia"/>
                <a:ea typeface="Georgia"/>
                <a:cs typeface="Georgia"/>
                <a:sym typeface="Georgia"/>
              </a:rPr>
              <a:t>Need </a:t>
            </a:r>
            <a:r>
              <a:rPr lang="en" sz="1300">
                <a:solidFill>
                  <a:srgbClr val="111111"/>
                </a:solidFill>
                <a:latin typeface="Georgia"/>
                <a:ea typeface="Georgia"/>
                <a:cs typeface="Georgia"/>
                <a:sym typeface="Georgia"/>
              </a:rPr>
              <a:t>polishing</a:t>
            </a:r>
            <a:r>
              <a:rPr lang="en" sz="1300">
                <a:solidFill>
                  <a:srgbClr val="111111"/>
                </a:solidFill>
                <a:latin typeface="Georgia"/>
                <a:ea typeface="Georgia"/>
                <a:cs typeface="Georgia"/>
                <a:sym typeface="Georgia"/>
              </a:rPr>
              <a:t> due to errors</a:t>
            </a:r>
            <a:endParaRPr sz="1300">
              <a:solidFill>
                <a:srgbClr val="111111"/>
              </a:solidFill>
              <a:latin typeface="Georgia"/>
              <a:ea typeface="Georgia"/>
              <a:cs typeface="Georgia"/>
              <a:sym typeface="Georgia"/>
            </a:endParaRPr>
          </a:p>
        </p:txBody>
      </p:sp>
      <p:sp>
        <p:nvSpPr>
          <p:cNvPr id="164" name="Google Shape;164;p19"/>
          <p:cNvSpPr txBox="1"/>
          <p:nvPr/>
        </p:nvSpPr>
        <p:spPr>
          <a:xfrm>
            <a:off x="3198750" y="4105975"/>
            <a:ext cx="2746500" cy="393600"/>
          </a:xfrm>
          <a:prstGeom prst="rect">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111111"/>
                </a:solidFill>
                <a:latin typeface="Georgia"/>
                <a:ea typeface="Georgia"/>
                <a:cs typeface="Georgia"/>
                <a:sym typeface="Georgia"/>
              </a:rPr>
              <a:t>The best is to combine both.</a:t>
            </a:r>
            <a:endParaRPr sz="1600">
              <a:solidFill>
                <a:srgbClr val="11111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ctrTitle"/>
          </p:nvPr>
        </p:nvSpPr>
        <p:spPr>
          <a:xfrm>
            <a:off x="533400" y="3372150"/>
            <a:ext cx="71457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a:solidFill>
                  <a:srgbClr val="111111"/>
                </a:solidFill>
              </a:rPr>
              <a:t> 4. </a:t>
            </a:r>
            <a:r>
              <a:rPr lang="en"/>
              <a:t>Workflow</a:t>
            </a:r>
            <a:endParaRPr/>
          </a:p>
        </p:txBody>
      </p:sp>
      <p:sp>
        <p:nvSpPr>
          <p:cNvPr id="170" name="Google Shape;170;p20"/>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type="title"/>
          </p:nvPr>
        </p:nvSpPr>
        <p:spPr>
          <a:xfrm>
            <a:off x="533400" y="552450"/>
            <a:ext cx="210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Timeline</a:t>
            </a:r>
            <a:endParaRPr/>
          </a:p>
        </p:txBody>
      </p:sp>
      <p:sp>
        <p:nvSpPr>
          <p:cNvPr id="176" name="Google Shape;176;p21"/>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pSp>
        <p:nvGrpSpPr>
          <p:cNvPr id="177" name="Google Shape;177;p21"/>
          <p:cNvGrpSpPr/>
          <p:nvPr/>
        </p:nvGrpSpPr>
        <p:grpSpPr>
          <a:xfrm>
            <a:off x="1556832" y="2417384"/>
            <a:ext cx="6680515" cy="393613"/>
            <a:chOff x="1786682" y="2757563"/>
            <a:chExt cx="6680515" cy="393613"/>
          </a:xfrm>
        </p:grpSpPr>
        <p:sp>
          <p:nvSpPr>
            <p:cNvPr id="178" name="Google Shape;178;p21"/>
            <p:cNvSpPr/>
            <p:nvPr/>
          </p:nvSpPr>
          <p:spPr>
            <a:xfrm>
              <a:off x="6891897" y="2757575"/>
              <a:ext cx="1575300" cy="393600"/>
            </a:xfrm>
            <a:prstGeom prst="homePlate">
              <a:avLst>
                <a:gd fmla="val 32030" name="adj"/>
              </a:avLst>
            </a:prstGeom>
            <a:solidFill>
              <a:srgbClr val="D9D9D9"/>
            </a:solidFill>
            <a:ln>
              <a:noFill/>
            </a:ln>
            <a:effectLst>
              <a:outerShdw blurRad="28575" rotWithShape="0" algn="bl" dist="9525">
                <a:srgbClr val="000000">
                  <a:alpha val="2000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100">
                  <a:solidFill>
                    <a:schemeClr val="dk1"/>
                  </a:solidFill>
                </a:rPr>
                <a:t>POST PROCESSING</a:t>
              </a:r>
              <a:endParaRPr sz="1100">
                <a:solidFill>
                  <a:schemeClr val="dk1"/>
                </a:solidFill>
              </a:endParaRPr>
            </a:p>
          </p:txBody>
        </p:sp>
        <p:sp>
          <p:nvSpPr>
            <p:cNvPr id="179" name="Google Shape;179;p21"/>
            <p:cNvSpPr/>
            <p:nvPr/>
          </p:nvSpPr>
          <p:spPr>
            <a:xfrm>
              <a:off x="5625000" y="2757575"/>
              <a:ext cx="1365600" cy="393600"/>
            </a:xfrm>
            <a:prstGeom prst="homePlate">
              <a:avLst>
                <a:gd fmla="val 32030" name="adj"/>
              </a:avLst>
            </a:prstGeom>
            <a:solidFill>
              <a:schemeClr val="accent4"/>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100">
                  <a:solidFill>
                    <a:schemeClr val="lt1"/>
                  </a:solidFill>
                  <a:latin typeface="Georgia"/>
                  <a:ea typeface="Georgia"/>
                  <a:cs typeface="Georgia"/>
                  <a:sym typeface="Georgia"/>
                </a:rPr>
                <a:t>ASSEMBLING</a:t>
              </a:r>
              <a:endParaRPr sz="1100">
                <a:solidFill>
                  <a:schemeClr val="lt1"/>
                </a:solidFill>
                <a:latin typeface="Georgia"/>
                <a:ea typeface="Georgia"/>
                <a:cs typeface="Georgia"/>
                <a:sym typeface="Georgia"/>
              </a:endParaRPr>
            </a:p>
          </p:txBody>
        </p:sp>
        <p:sp>
          <p:nvSpPr>
            <p:cNvPr id="180" name="Google Shape;180;p21"/>
            <p:cNvSpPr/>
            <p:nvPr/>
          </p:nvSpPr>
          <p:spPr>
            <a:xfrm>
              <a:off x="4152387" y="2757575"/>
              <a:ext cx="1682700" cy="393600"/>
            </a:xfrm>
            <a:prstGeom prst="homePlate">
              <a:avLst>
                <a:gd fmla="val 32030" name="adj"/>
              </a:avLst>
            </a:prstGeom>
            <a:solidFill>
              <a:schemeClr val="accent3"/>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100">
                  <a:solidFill>
                    <a:schemeClr val="lt1"/>
                  </a:solidFill>
                  <a:latin typeface="Georgia"/>
                  <a:ea typeface="Georgia"/>
                  <a:cs typeface="Georgia"/>
                  <a:sym typeface="Georgia"/>
                </a:rPr>
                <a:t>PREPROCESSING</a:t>
              </a:r>
              <a:endParaRPr sz="1100">
                <a:solidFill>
                  <a:schemeClr val="lt1"/>
                </a:solidFill>
                <a:latin typeface="Georgia"/>
                <a:ea typeface="Georgia"/>
                <a:cs typeface="Georgia"/>
                <a:sym typeface="Georgia"/>
              </a:endParaRPr>
            </a:p>
          </p:txBody>
        </p:sp>
        <p:sp>
          <p:nvSpPr>
            <p:cNvPr id="181" name="Google Shape;181;p21"/>
            <p:cNvSpPr/>
            <p:nvPr/>
          </p:nvSpPr>
          <p:spPr>
            <a:xfrm>
              <a:off x="2951925" y="2757563"/>
              <a:ext cx="1434600" cy="393600"/>
            </a:xfrm>
            <a:prstGeom prst="homePlate">
              <a:avLst>
                <a:gd fmla="val 32030" name="adj"/>
              </a:avLst>
            </a:prstGeom>
            <a:solidFill>
              <a:schemeClr val="accent2"/>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100">
                  <a:solidFill>
                    <a:schemeClr val="lt1"/>
                  </a:solidFill>
                  <a:latin typeface="Georgia"/>
                  <a:ea typeface="Georgia"/>
                  <a:cs typeface="Georgia"/>
                  <a:sym typeface="Georgia"/>
                </a:rPr>
                <a:t>SEQUENCING</a:t>
              </a:r>
              <a:endParaRPr sz="1100">
                <a:solidFill>
                  <a:schemeClr val="lt1"/>
                </a:solidFill>
                <a:latin typeface="Georgia"/>
                <a:ea typeface="Georgia"/>
                <a:cs typeface="Georgia"/>
                <a:sym typeface="Georgia"/>
              </a:endParaRPr>
            </a:p>
          </p:txBody>
        </p:sp>
        <p:sp>
          <p:nvSpPr>
            <p:cNvPr id="182" name="Google Shape;182;p21"/>
            <p:cNvSpPr/>
            <p:nvPr/>
          </p:nvSpPr>
          <p:spPr>
            <a:xfrm>
              <a:off x="1786682" y="2757575"/>
              <a:ext cx="1434600" cy="393600"/>
            </a:xfrm>
            <a:prstGeom prst="homePlate">
              <a:avLst>
                <a:gd fmla="val 32030" name="adj"/>
              </a:avLst>
            </a:prstGeom>
            <a:solidFill>
              <a:schemeClr val="accent1"/>
            </a:solidFill>
            <a:ln>
              <a:noFill/>
            </a:ln>
            <a:effectLst>
              <a:outerShdw blurRad="28575" rotWithShape="0" algn="bl" dist="9525">
                <a:srgbClr val="000000">
                  <a:alpha val="20000"/>
                </a:srgbClr>
              </a:outerShdw>
            </a:effectLst>
          </p:spPr>
          <p:txBody>
            <a:bodyPr anchorCtr="0" anchor="ctr" bIns="0" lIns="274300" spcFirstLastPara="1" rIns="0" wrap="square" tIns="0">
              <a:noAutofit/>
            </a:bodyPr>
            <a:lstStyle/>
            <a:p>
              <a:pPr indent="0" lvl="0" marL="0" marR="0" rtl="0" algn="l">
                <a:lnSpc>
                  <a:spcPct val="100000"/>
                </a:lnSpc>
                <a:spcBef>
                  <a:spcPts val="0"/>
                </a:spcBef>
                <a:spcAft>
                  <a:spcPts val="0"/>
                </a:spcAft>
                <a:buNone/>
              </a:pPr>
              <a:r>
                <a:rPr lang="en" sz="1100">
                  <a:solidFill>
                    <a:schemeClr val="lt1"/>
                  </a:solidFill>
                  <a:latin typeface="Georgia"/>
                  <a:ea typeface="Georgia"/>
                  <a:cs typeface="Georgia"/>
                  <a:sym typeface="Georgia"/>
                </a:rPr>
                <a:t>EXTRACTION</a:t>
              </a:r>
              <a:endParaRPr sz="1100">
                <a:solidFill>
                  <a:schemeClr val="lt1"/>
                </a:solidFill>
                <a:latin typeface="Georgia"/>
                <a:ea typeface="Georgia"/>
                <a:cs typeface="Georgia"/>
                <a:sym typeface="Georgia"/>
              </a:endParaRPr>
            </a:p>
          </p:txBody>
        </p:sp>
      </p:grpSp>
      <p:sp>
        <p:nvSpPr>
          <p:cNvPr id="183" name="Google Shape;183;p21"/>
          <p:cNvSpPr txBox="1"/>
          <p:nvPr/>
        </p:nvSpPr>
        <p:spPr>
          <a:xfrm>
            <a:off x="4074602" y="3305577"/>
            <a:ext cx="994800" cy="39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 sz="1100">
                <a:solidFill>
                  <a:schemeClr val="dk2"/>
                </a:solidFill>
                <a:latin typeface="Georgia"/>
                <a:ea typeface="Georgia"/>
                <a:cs typeface="Georgia"/>
                <a:sym typeface="Georgia"/>
              </a:rPr>
              <a:t>FASTQC</a:t>
            </a:r>
            <a:endParaRPr sz="1100">
              <a:solidFill>
                <a:schemeClr val="dk2"/>
              </a:solidFill>
              <a:latin typeface="Georgia"/>
              <a:ea typeface="Georgia"/>
              <a:cs typeface="Georgia"/>
              <a:sym typeface="Georgia"/>
            </a:endParaRPr>
          </a:p>
          <a:p>
            <a:pPr indent="0" lvl="0" marL="0" marR="0" rtl="0" algn="l">
              <a:lnSpc>
                <a:spcPct val="100000"/>
              </a:lnSpc>
              <a:spcBef>
                <a:spcPts val="0"/>
              </a:spcBef>
              <a:spcAft>
                <a:spcPts val="0"/>
              </a:spcAft>
              <a:buNone/>
            </a:pPr>
            <a:r>
              <a:rPr lang="en" sz="1100">
                <a:solidFill>
                  <a:schemeClr val="dk2"/>
                </a:solidFill>
                <a:latin typeface="Georgia"/>
                <a:ea typeface="Georgia"/>
                <a:cs typeface="Georgia"/>
                <a:sym typeface="Georgia"/>
              </a:rPr>
              <a:t>Trimming</a:t>
            </a:r>
            <a:endParaRPr sz="1100">
              <a:solidFill>
                <a:schemeClr val="dk2"/>
              </a:solidFill>
              <a:latin typeface="Georgia"/>
              <a:ea typeface="Georgia"/>
              <a:cs typeface="Georgia"/>
              <a:sym typeface="Georgia"/>
            </a:endParaRPr>
          </a:p>
        </p:txBody>
      </p:sp>
      <p:cxnSp>
        <p:nvCxnSpPr>
          <p:cNvPr id="184" name="Google Shape;184;p21"/>
          <p:cNvCxnSpPr/>
          <p:nvPr/>
        </p:nvCxnSpPr>
        <p:spPr>
          <a:xfrm rot="10800000">
            <a:off x="4224101" y="2782396"/>
            <a:ext cx="0" cy="498600"/>
          </a:xfrm>
          <a:prstGeom prst="straightConnector1">
            <a:avLst/>
          </a:prstGeom>
          <a:noFill/>
          <a:ln cap="flat" cmpd="sng" w="9525">
            <a:solidFill>
              <a:schemeClr val="lt1"/>
            </a:solidFill>
            <a:prstDash val="solid"/>
            <a:round/>
            <a:headEnd len="med" w="med" type="oval"/>
            <a:tailEnd len="med" w="med" type="oval"/>
          </a:ln>
        </p:spPr>
      </p:cxnSp>
      <p:cxnSp>
        <p:nvCxnSpPr>
          <p:cNvPr id="185" name="Google Shape;185;p21"/>
          <p:cNvCxnSpPr/>
          <p:nvPr/>
        </p:nvCxnSpPr>
        <p:spPr>
          <a:xfrm rot="10800000">
            <a:off x="6795424" y="2784791"/>
            <a:ext cx="0" cy="498600"/>
          </a:xfrm>
          <a:prstGeom prst="straightConnector1">
            <a:avLst/>
          </a:prstGeom>
          <a:noFill/>
          <a:ln cap="flat" cmpd="sng" w="9525">
            <a:solidFill>
              <a:schemeClr val="lt1"/>
            </a:solidFill>
            <a:prstDash val="solid"/>
            <a:round/>
            <a:headEnd len="med" w="med" type="oval"/>
            <a:tailEnd len="med" w="med" type="oval"/>
          </a:ln>
        </p:spPr>
      </p:cxnSp>
      <p:sp>
        <p:nvSpPr>
          <p:cNvPr id="186" name="Google Shape;186;p21"/>
          <p:cNvSpPr txBox="1"/>
          <p:nvPr/>
        </p:nvSpPr>
        <p:spPr>
          <a:xfrm>
            <a:off x="6561747" y="3307971"/>
            <a:ext cx="1521000" cy="533400"/>
          </a:xfrm>
          <a:prstGeom prst="rect">
            <a:avLst/>
          </a:prstGeom>
          <a:noFill/>
          <a:ln>
            <a:noFill/>
          </a:ln>
        </p:spPr>
        <p:txBody>
          <a:bodyPr anchorCtr="0" anchor="t" bIns="0" lIns="0" spcFirstLastPara="1" rIns="0" wrap="square" tIns="0">
            <a:noAutofit/>
          </a:bodyPr>
          <a:lstStyle/>
          <a:p>
            <a:pPr indent="-298450" lvl="0" marL="457200" marR="0" rtl="0" algn="l">
              <a:lnSpc>
                <a:spcPct val="100000"/>
              </a:lnSpc>
              <a:spcBef>
                <a:spcPts val="0"/>
              </a:spcBef>
              <a:spcAft>
                <a:spcPts val="0"/>
              </a:spcAft>
              <a:buClr>
                <a:schemeClr val="dk2"/>
              </a:buClr>
              <a:buSzPts val="1100"/>
              <a:buFont typeface="Georgia"/>
              <a:buAutoNum type="arabicPeriod"/>
            </a:pPr>
            <a:r>
              <a:rPr lang="en" sz="1100">
                <a:solidFill>
                  <a:schemeClr val="dk2"/>
                </a:solidFill>
                <a:latin typeface="Georgia"/>
                <a:ea typeface="Georgia"/>
                <a:cs typeface="Georgia"/>
                <a:sym typeface="Georgia"/>
              </a:rPr>
              <a:t>Scaffolding</a:t>
            </a:r>
            <a:endParaRPr sz="1100">
              <a:solidFill>
                <a:schemeClr val="dk2"/>
              </a:solidFill>
              <a:latin typeface="Georgia"/>
              <a:ea typeface="Georgia"/>
              <a:cs typeface="Georgia"/>
              <a:sym typeface="Georgia"/>
            </a:endParaRPr>
          </a:p>
          <a:p>
            <a:pPr indent="-298450" lvl="0" marL="457200" marR="0" rtl="0" algn="l">
              <a:lnSpc>
                <a:spcPct val="100000"/>
              </a:lnSpc>
              <a:spcBef>
                <a:spcPts val="0"/>
              </a:spcBef>
              <a:spcAft>
                <a:spcPts val="0"/>
              </a:spcAft>
              <a:buClr>
                <a:schemeClr val="dk2"/>
              </a:buClr>
              <a:buSzPts val="1100"/>
              <a:buFont typeface="Georgia"/>
              <a:buAutoNum type="arabicPeriod"/>
            </a:pPr>
            <a:r>
              <a:rPr lang="en" sz="1100">
                <a:solidFill>
                  <a:schemeClr val="dk2"/>
                </a:solidFill>
                <a:latin typeface="Georgia"/>
                <a:ea typeface="Georgia"/>
                <a:cs typeface="Georgia"/>
                <a:sym typeface="Georgia"/>
              </a:rPr>
              <a:t>Polishing</a:t>
            </a:r>
            <a:endParaRPr sz="1100">
              <a:solidFill>
                <a:schemeClr val="dk2"/>
              </a:solidFill>
              <a:latin typeface="Georgia"/>
              <a:ea typeface="Georgia"/>
              <a:cs typeface="Georgia"/>
              <a:sym typeface="Georgia"/>
            </a:endParaRPr>
          </a:p>
          <a:p>
            <a:pPr indent="-298450" lvl="0" marL="457200" marR="0" rtl="0" algn="l">
              <a:lnSpc>
                <a:spcPct val="100000"/>
              </a:lnSpc>
              <a:spcBef>
                <a:spcPts val="0"/>
              </a:spcBef>
              <a:spcAft>
                <a:spcPts val="0"/>
              </a:spcAft>
              <a:buClr>
                <a:schemeClr val="dk2"/>
              </a:buClr>
              <a:buSzPts val="1100"/>
              <a:buFont typeface="Georgia"/>
              <a:buAutoNum type="arabicPeriod"/>
            </a:pPr>
            <a:r>
              <a:rPr lang="en" sz="1100">
                <a:solidFill>
                  <a:schemeClr val="dk2"/>
                </a:solidFill>
                <a:latin typeface="Georgia"/>
                <a:ea typeface="Georgia"/>
                <a:cs typeface="Georgia"/>
                <a:sym typeface="Georgia"/>
              </a:rPr>
              <a:t>Evaluation</a:t>
            </a:r>
            <a:endParaRPr sz="1100">
              <a:solidFill>
                <a:schemeClr val="dk2"/>
              </a:solidFill>
              <a:latin typeface="Georgia"/>
              <a:ea typeface="Georgia"/>
              <a:cs typeface="Georgia"/>
              <a:sym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192" name="Google Shape;192;p22"/>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1,2.  EXTRACTION AND SEQUENCING</a:t>
            </a:r>
            <a:endParaRPr b="1" sz="2400">
              <a:solidFill>
                <a:schemeClr val="accent1"/>
              </a:solidFill>
              <a:latin typeface="Georgia"/>
              <a:ea typeface="Georgia"/>
              <a:cs typeface="Georgia"/>
              <a:sym typeface="Georgia"/>
            </a:endParaRPr>
          </a:p>
        </p:txBody>
      </p:sp>
      <p:sp>
        <p:nvSpPr>
          <p:cNvPr id="193" name="Google Shape;193;p22"/>
          <p:cNvSpPr txBox="1"/>
          <p:nvPr/>
        </p:nvSpPr>
        <p:spPr>
          <a:xfrm>
            <a:off x="978915" y="1766550"/>
            <a:ext cx="2166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11111"/>
                </a:solidFill>
                <a:latin typeface="Georgia"/>
                <a:ea typeface="Georgia"/>
                <a:cs typeface="Georgia"/>
                <a:sym typeface="Georgia"/>
              </a:rPr>
              <a:t>Wet lab </a:t>
            </a:r>
            <a:r>
              <a:rPr lang="en" sz="1300">
                <a:solidFill>
                  <a:schemeClr val="accent1"/>
                </a:solidFill>
                <a:latin typeface="Georgia"/>
                <a:ea typeface="Georgia"/>
                <a:cs typeface="Georgia"/>
                <a:sym typeface="Georgia"/>
              </a:rPr>
              <a:t>→ </a:t>
            </a:r>
            <a:r>
              <a:rPr lang="en" sz="1300">
                <a:solidFill>
                  <a:srgbClr val="111111"/>
                </a:solidFill>
                <a:latin typeface="Georgia"/>
                <a:ea typeface="Georgia"/>
                <a:cs typeface="Georgia"/>
                <a:sym typeface="Georgia"/>
              </a:rPr>
              <a:t>raw data QC</a:t>
            </a:r>
            <a:endParaRPr sz="1300">
              <a:solidFill>
                <a:srgbClr val="111111"/>
              </a:solidFill>
              <a:latin typeface="Georgia"/>
              <a:ea typeface="Georgia"/>
              <a:cs typeface="Georgia"/>
              <a:sym typeface="Georgia"/>
            </a:endParaRPr>
          </a:p>
        </p:txBody>
      </p:sp>
      <p:pic>
        <p:nvPicPr>
          <p:cNvPr id="194" name="Google Shape;194;p22"/>
          <p:cNvPicPr preferRelativeResize="0"/>
          <p:nvPr/>
        </p:nvPicPr>
        <p:blipFill>
          <a:blip r:embed="rId3">
            <a:alphaModFix/>
          </a:blip>
          <a:stretch>
            <a:fillRect/>
          </a:stretch>
        </p:blipFill>
        <p:spPr>
          <a:xfrm>
            <a:off x="5336975" y="1641700"/>
            <a:ext cx="2883201" cy="2565299"/>
          </a:xfrm>
          <a:prstGeom prst="rect">
            <a:avLst/>
          </a:prstGeom>
          <a:noFill/>
          <a:ln>
            <a:noFill/>
          </a:ln>
        </p:spPr>
      </p:pic>
      <p:sp>
        <p:nvSpPr>
          <p:cNvPr id="195" name="Google Shape;195;p22"/>
          <p:cNvSpPr txBox="1"/>
          <p:nvPr/>
        </p:nvSpPr>
        <p:spPr>
          <a:xfrm>
            <a:off x="978901" y="2160160"/>
            <a:ext cx="3015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11111"/>
                </a:solidFill>
                <a:latin typeface="Georgia"/>
                <a:ea typeface="Georgia"/>
                <a:cs typeface="Georgia"/>
                <a:sym typeface="Georgia"/>
              </a:rPr>
              <a:t>Obtaining</a:t>
            </a:r>
            <a:r>
              <a:rPr lang="en" sz="1300">
                <a:solidFill>
                  <a:srgbClr val="111111"/>
                </a:solidFill>
                <a:latin typeface="Georgia"/>
                <a:ea typeface="Georgia"/>
                <a:cs typeface="Georgia"/>
                <a:sym typeface="Georgia"/>
              </a:rPr>
              <a:t> DNA from an organism.</a:t>
            </a:r>
            <a:endParaRPr sz="1300">
              <a:solidFill>
                <a:srgbClr val="111111"/>
              </a:solidFill>
              <a:latin typeface="Georgia"/>
              <a:ea typeface="Georgia"/>
              <a:cs typeface="Georgia"/>
              <a:sym typeface="Georgia"/>
            </a:endParaRPr>
          </a:p>
        </p:txBody>
      </p:sp>
      <p:sp>
        <p:nvSpPr>
          <p:cNvPr id="196" name="Google Shape;196;p22"/>
          <p:cNvSpPr txBox="1"/>
          <p:nvPr/>
        </p:nvSpPr>
        <p:spPr>
          <a:xfrm>
            <a:off x="1215608" y="2422840"/>
            <a:ext cx="4121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accent1"/>
                </a:solidFill>
                <a:latin typeface="Georgia"/>
                <a:ea typeface="Georgia"/>
                <a:cs typeface="Georgia"/>
                <a:sym typeface="Georgia"/>
              </a:rPr>
              <a:t>!!! </a:t>
            </a:r>
            <a:r>
              <a:rPr lang="en" sz="1300">
                <a:solidFill>
                  <a:srgbClr val="111111"/>
                </a:solidFill>
                <a:latin typeface="Georgia"/>
                <a:ea typeface="Georgia"/>
                <a:cs typeface="Georgia"/>
                <a:sym typeface="Georgia"/>
              </a:rPr>
              <a:t>Right tissue and minimization contamination.</a:t>
            </a:r>
            <a:endParaRPr sz="1300">
              <a:solidFill>
                <a:srgbClr val="111111"/>
              </a:solidFill>
              <a:latin typeface="Georgia"/>
              <a:ea typeface="Georgia"/>
              <a:cs typeface="Georgia"/>
              <a:sym typeface="Georgia"/>
            </a:endParaRPr>
          </a:p>
        </p:txBody>
      </p:sp>
      <p:sp>
        <p:nvSpPr>
          <p:cNvPr id="197" name="Google Shape;197;p22"/>
          <p:cNvSpPr txBox="1"/>
          <p:nvPr/>
        </p:nvSpPr>
        <p:spPr>
          <a:xfrm>
            <a:off x="1039567" y="3079125"/>
            <a:ext cx="2701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11111"/>
                </a:solidFill>
                <a:latin typeface="Georgia"/>
                <a:ea typeface="Georgia"/>
                <a:cs typeface="Georgia"/>
                <a:sym typeface="Georgia"/>
              </a:rPr>
              <a:t>Third-generation sequencing</a:t>
            </a:r>
            <a:endParaRPr sz="1300">
              <a:solidFill>
                <a:srgbClr val="111111"/>
              </a:solidFill>
              <a:latin typeface="Georgia"/>
              <a:ea typeface="Georgia"/>
              <a:cs typeface="Georgia"/>
              <a:sym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03" name="Google Shape;203;p23"/>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3.   PREPROCESSING</a:t>
            </a:r>
            <a:endParaRPr b="1" sz="2400">
              <a:solidFill>
                <a:schemeClr val="accent1"/>
              </a:solidFill>
              <a:latin typeface="Georgia"/>
              <a:ea typeface="Georgia"/>
              <a:cs typeface="Georgia"/>
              <a:sym typeface="Georgia"/>
            </a:endParaRPr>
          </a:p>
        </p:txBody>
      </p:sp>
      <p:sp>
        <p:nvSpPr>
          <p:cNvPr id="204" name="Google Shape;204;p23"/>
          <p:cNvSpPr txBox="1"/>
          <p:nvPr/>
        </p:nvSpPr>
        <p:spPr>
          <a:xfrm>
            <a:off x="1026750" y="1622575"/>
            <a:ext cx="2816100" cy="23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rgbClr val="111111"/>
                </a:solidFill>
                <a:latin typeface="Georgia"/>
                <a:ea typeface="Georgia"/>
                <a:cs typeface="Georgia"/>
                <a:sym typeface="Georgia"/>
              </a:rPr>
              <a:t>Quality control</a:t>
            </a:r>
            <a:r>
              <a:rPr lang="en" sz="1200">
                <a:solidFill>
                  <a:srgbClr val="111111"/>
                </a:solidFill>
                <a:latin typeface="Georgia"/>
                <a:ea typeface="Georgia"/>
                <a:cs typeface="Georgia"/>
                <a:sym typeface="Georgia"/>
              </a:rPr>
              <a:t> → </a:t>
            </a:r>
            <a:r>
              <a:rPr b="1" lang="en" sz="1200">
                <a:solidFill>
                  <a:srgbClr val="111111"/>
                </a:solidFill>
                <a:latin typeface="Georgia"/>
                <a:ea typeface="Georgia"/>
                <a:cs typeface="Georgia"/>
                <a:sym typeface="Georgia"/>
              </a:rPr>
              <a:t>FastQC</a:t>
            </a:r>
            <a:endParaRPr sz="1200">
              <a:solidFill>
                <a:srgbClr val="11111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a:p>
            <a:pPr indent="0" lvl="0" marL="0" rtl="0" algn="l">
              <a:spcBef>
                <a:spcPts val="0"/>
              </a:spcBef>
              <a:spcAft>
                <a:spcPts val="0"/>
              </a:spcAft>
              <a:buNone/>
            </a:pPr>
            <a:r>
              <a:rPr lang="en" sz="1200">
                <a:solidFill>
                  <a:srgbClr val="111111"/>
                </a:solidFill>
                <a:latin typeface="Georgia"/>
                <a:ea typeface="Georgia"/>
                <a:cs typeface="Georgia"/>
                <a:sym typeface="Georgia"/>
              </a:rPr>
              <a:t>QC tool for high throughput sequence data.</a:t>
            </a:r>
            <a:endParaRPr sz="1200">
              <a:solidFill>
                <a:srgbClr val="111111"/>
              </a:solidFill>
              <a:latin typeface="Georgia"/>
              <a:ea typeface="Georgia"/>
              <a:cs typeface="Georgia"/>
              <a:sym typeface="Georgia"/>
            </a:endParaRPr>
          </a:p>
          <a:p>
            <a:pPr indent="0" lvl="0" marL="0" rtl="0" algn="l">
              <a:spcBef>
                <a:spcPts val="0"/>
              </a:spcBef>
              <a:spcAft>
                <a:spcPts val="0"/>
              </a:spcAft>
              <a:buNone/>
            </a:pPr>
            <a:r>
              <a:rPr lang="en" sz="1200">
                <a:solidFill>
                  <a:srgbClr val="111111"/>
                </a:solidFill>
                <a:latin typeface="Georgia"/>
                <a:ea typeface="Georgia"/>
                <a:cs typeface="Georgia"/>
                <a:sym typeface="Georgia"/>
              </a:rPr>
              <a:t>It imports data from </a:t>
            </a:r>
            <a:r>
              <a:rPr b="1" i="1" lang="en" sz="1200">
                <a:solidFill>
                  <a:srgbClr val="111111"/>
                </a:solidFill>
                <a:latin typeface="Georgia"/>
                <a:ea typeface="Georgia"/>
                <a:cs typeface="Georgia"/>
                <a:sym typeface="Georgia"/>
              </a:rPr>
              <a:t>SAM</a:t>
            </a:r>
            <a:r>
              <a:rPr i="1" lang="en" sz="1200">
                <a:solidFill>
                  <a:srgbClr val="111111"/>
                </a:solidFill>
                <a:latin typeface="Georgia"/>
                <a:ea typeface="Georgia"/>
                <a:cs typeface="Georgia"/>
                <a:sym typeface="Georgia"/>
              </a:rPr>
              <a:t>, </a:t>
            </a:r>
            <a:r>
              <a:rPr b="1" i="1" lang="en" sz="1200">
                <a:solidFill>
                  <a:srgbClr val="111111"/>
                </a:solidFill>
                <a:latin typeface="Georgia"/>
                <a:ea typeface="Georgia"/>
                <a:cs typeface="Georgia"/>
                <a:sym typeface="Georgia"/>
              </a:rPr>
              <a:t>BAM</a:t>
            </a:r>
            <a:r>
              <a:rPr b="1" lang="en" sz="1200">
                <a:solidFill>
                  <a:srgbClr val="111111"/>
                </a:solidFill>
                <a:latin typeface="Georgia"/>
                <a:ea typeface="Georgia"/>
                <a:cs typeface="Georgia"/>
                <a:sym typeface="Georgia"/>
              </a:rPr>
              <a:t> </a:t>
            </a:r>
            <a:r>
              <a:rPr lang="en" sz="1200">
                <a:solidFill>
                  <a:srgbClr val="111111"/>
                </a:solidFill>
                <a:latin typeface="Georgia"/>
                <a:ea typeface="Georgia"/>
                <a:cs typeface="Georgia"/>
                <a:sym typeface="Georgia"/>
              </a:rPr>
              <a:t>or </a:t>
            </a:r>
            <a:r>
              <a:rPr b="1" i="1" lang="en" sz="1200">
                <a:solidFill>
                  <a:srgbClr val="111111"/>
                </a:solidFill>
                <a:latin typeface="Georgia"/>
                <a:ea typeface="Georgia"/>
                <a:cs typeface="Georgia"/>
                <a:sym typeface="Georgia"/>
              </a:rPr>
              <a:t>FastQ </a:t>
            </a:r>
            <a:r>
              <a:rPr lang="en" sz="1200">
                <a:solidFill>
                  <a:srgbClr val="111111"/>
                </a:solidFill>
                <a:latin typeface="Georgia"/>
                <a:ea typeface="Georgia"/>
                <a:cs typeface="Georgia"/>
                <a:sym typeface="Georgia"/>
              </a:rPr>
              <a:t>files. The results are in </a:t>
            </a:r>
            <a:r>
              <a:rPr b="1" i="1" lang="en" sz="1200">
                <a:solidFill>
                  <a:srgbClr val="111111"/>
                </a:solidFill>
                <a:latin typeface="Georgia"/>
                <a:ea typeface="Georgia"/>
                <a:cs typeface="Georgia"/>
                <a:sym typeface="Georgia"/>
              </a:rPr>
              <a:t>HTML</a:t>
            </a:r>
            <a:r>
              <a:rPr lang="en" sz="1200">
                <a:solidFill>
                  <a:srgbClr val="111111"/>
                </a:solidFill>
                <a:latin typeface="Georgia"/>
                <a:ea typeface="Georgia"/>
                <a:cs typeface="Georgia"/>
                <a:sym typeface="Georgia"/>
              </a:rPr>
              <a:t>.</a:t>
            </a:r>
            <a:endParaRPr sz="1200">
              <a:solidFill>
                <a:srgbClr val="11111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a:p>
            <a:pPr indent="0" lvl="0" marL="0" rtl="0" algn="l">
              <a:spcBef>
                <a:spcPts val="0"/>
              </a:spcBef>
              <a:spcAft>
                <a:spcPts val="0"/>
              </a:spcAft>
              <a:buNone/>
            </a:pPr>
            <a:r>
              <a:rPr lang="en" sz="1200">
                <a:solidFill>
                  <a:srgbClr val="111111"/>
                </a:solidFill>
                <a:latin typeface="Georgia"/>
                <a:ea typeface="Georgia"/>
                <a:cs typeface="Georgia"/>
                <a:sym typeface="Georgia"/>
              </a:rPr>
              <a:t>Other tools: metrics (N50, coverage, N90, number of genes, number of gaps…)</a:t>
            </a:r>
            <a:endParaRPr sz="1200">
              <a:solidFill>
                <a:srgbClr val="111111"/>
              </a:solidFill>
              <a:latin typeface="Georgia"/>
              <a:ea typeface="Georgia"/>
              <a:cs typeface="Georgia"/>
              <a:sym typeface="Georgia"/>
            </a:endParaRPr>
          </a:p>
        </p:txBody>
      </p:sp>
      <p:pic>
        <p:nvPicPr>
          <p:cNvPr id="205" name="Google Shape;205;p23"/>
          <p:cNvPicPr preferRelativeResize="0"/>
          <p:nvPr/>
        </p:nvPicPr>
        <p:blipFill>
          <a:blip r:embed="rId3">
            <a:alphaModFix/>
          </a:blip>
          <a:stretch>
            <a:fillRect/>
          </a:stretch>
        </p:blipFill>
        <p:spPr>
          <a:xfrm>
            <a:off x="3925050" y="1373500"/>
            <a:ext cx="4087776" cy="2770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4"/>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11" name="Google Shape;211;p24"/>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3.   PREPROCESSING</a:t>
            </a:r>
            <a:endParaRPr b="1" sz="2400">
              <a:solidFill>
                <a:schemeClr val="accent1"/>
              </a:solidFill>
              <a:latin typeface="Georgia"/>
              <a:ea typeface="Georgia"/>
              <a:cs typeface="Georgia"/>
              <a:sym typeface="Georgia"/>
            </a:endParaRPr>
          </a:p>
        </p:txBody>
      </p:sp>
      <p:sp>
        <p:nvSpPr>
          <p:cNvPr id="212" name="Google Shape;212;p24"/>
          <p:cNvSpPr txBox="1"/>
          <p:nvPr/>
        </p:nvSpPr>
        <p:spPr>
          <a:xfrm>
            <a:off x="1026750" y="2796046"/>
            <a:ext cx="3819600" cy="128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rgbClr val="111111"/>
                </a:solidFill>
                <a:latin typeface="Georgia"/>
                <a:ea typeface="Georgia"/>
                <a:cs typeface="Georgia"/>
                <a:sym typeface="Georgia"/>
              </a:rPr>
              <a:t>Trimming</a:t>
            </a:r>
            <a:r>
              <a:rPr lang="en" sz="1200">
                <a:solidFill>
                  <a:srgbClr val="111111"/>
                </a:solidFill>
                <a:latin typeface="Georgia"/>
                <a:ea typeface="Georgia"/>
                <a:cs typeface="Georgia"/>
                <a:sym typeface="Georgia"/>
              </a:rPr>
              <a:t>:</a:t>
            </a:r>
            <a:endParaRPr sz="1200">
              <a:solidFill>
                <a:srgbClr val="11111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a:p>
            <a:pPr indent="0" lvl="0" marL="0" rtl="0" algn="l">
              <a:spcBef>
                <a:spcPts val="0"/>
              </a:spcBef>
              <a:spcAft>
                <a:spcPts val="0"/>
              </a:spcAft>
              <a:buNone/>
            </a:pPr>
            <a:r>
              <a:rPr lang="en" sz="1200">
                <a:solidFill>
                  <a:srgbClr val="111111"/>
                </a:solidFill>
                <a:latin typeface="Georgia"/>
                <a:ea typeface="Georgia"/>
                <a:cs typeface="Georgia"/>
                <a:sym typeface="Georgia"/>
              </a:rPr>
              <a:t>Raw files to fill mising bases and correct sequencing.</a:t>
            </a:r>
            <a:endParaRPr sz="1200">
              <a:solidFill>
                <a:srgbClr val="11111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a:p>
            <a:pPr indent="-304800" lvl="0" marL="457200" rtl="0" algn="l">
              <a:spcBef>
                <a:spcPts val="0"/>
              </a:spcBef>
              <a:spcAft>
                <a:spcPts val="0"/>
              </a:spcAft>
              <a:buClr>
                <a:srgbClr val="111111"/>
              </a:buClr>
              <a:buSzPts val="1200"/>
              <a:buFont typeface="Georgia"/>
              <a:buChar char="-"/>
            </a:pPr>
            <a:r>
              <a:rPr b="1" i="1" lang="en" sz="1200">
                <a:solidFill>
                  <a:srgbClr val="111111"/>
                </a:solidFill>
                <a:latin typeface="Georgia"/>
                <a:ea typeface="Georgia"/>
                <a:cs typeface="Georgia"/>
                <a:sym typeface="Georgia"/>
              </a:rPr>
              <a:t>Trimmomatic, Cutadapt, Racon/Pilon</a:t>
            </a:r>
            <a:endParaRPr b="1" i="1" sz="1200">
              <a:solidFill>
                <a:srgbClr val="111111"/>
              </a:solidFill>
              <a:latin typeface="Georgia"/>
              <a:ea typeface="Georgia"/>
              <a:cs typeface="Georgia"/>
              <a:sym typeface="Georgia"/>
            </a:endParaRPr>
          </a:p>
        </p:txBody>
      </p:sp>
      <p:sp>
        <p:nvSpPr>
          <p:cNvPr id="213" name="Google Shape;213;p24"/>
          <p:cNvSpPr txBox="1"/>
          <p:nvPr/>
        </p:nvSpPr>
        <p:spPr>
          <a:xfrm>
            <a:off x="1026750" y="1598850"/>
            <a:ext cx="3819600" cy="9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1"/>
                </a:solidFill>
                <a:latin typeface="Georgia"/>
                <a:ea typeface="Georgia"/>
                <a:cs typeface="Georgia"/>
                <a:sym typeface="Georgia"/>
              </a:rPr>
              <a:t>BUSCO </a:t>
            </a:r>
            <a:r>
              <a:rPr lang="en" sz="1100">
                <a:solidFill>
                  <a:schemeClr val="dk1"/>
                </a:solidFill>
                <a:latin typeface="Georgia"/>
                <a:ea typeface="Georgia"/>
                <a:cs typeface="Georgia"/>
                <a:sym typeface="Georgia"/>
              </a:rPr>
              <a:t>[Benchmarking Universal Single-Copy Orthologs] (conserved genes). </a:t>
            </a:r>
            <a:endParaRPr sz="1100">
              <a:solidFill>
                <a:schemeClr val="dk1"/>
              </a:solidFill>
              <a:latin typeface="Georgia"/>
              <a:ea typeface="Georgia"/>
              <a:cs typeface="Georgia"/>
              <a:sym typeface="Georgia"/>
            </a:endParaRPr>
          </a:p>
          <a:p>
            <a:pPr indent="0" lvl="0" marL="0" rtl="0" algn="l">
              <a:spcBef>
                <a:spcPts val="0"/>
              </a:spcBef>
              <a:spcAft>
                <a:spcPts val="0"/>
              </a:spcAft>
              <a:buNone/>
            </a:pPr>
            <a:r>
              <a:rPr lang="en" sz="1100">
                <a:solidFill>
                  <a:schemeClr val="dk1"/>
                </a:solidFill>
                <a:latin typeface="Georgia"/>
                <a:ea typeface="Georgia"/>
                <a:cs typeface="Georgia"/>
                <a:sym typeface="Georgia"/>
              </a:rPr>
              <a:t>Quantifications of completeness. It is used OrthoDB database. </a:t>
            </a:r>
            <a:endParaRPr sz="1100">
              <a:solidFill>
                <a:schemeClr val="dk1"/>
              </a:solidFill>
              <a:latin typeface="Georgia"/>
              <a:ea typeface="Georgia"/>
              <a:cs typeface="Georgia"/>
              <a:sym typeface="Georgia"/>
            </a:endParaRPr>
          </a:p>
          <a:p>
            <a:pPr indent="0" lvl="0" marL="0" rtl="0" algn="l">
              <a:spcBef>
                <a:spcPts val="0"/>
              </a:spcBef>
              <a:spcAft>
                <a:spcPts val="0"/>
              </a:spcAft>
              <a:buNone/>
            </a:pPr>
            <a:r>
              <a:t/>
            </a:r>
            <a:endParaRPr sz="1200">
              <a:solidFill>
                <a:srgbClr val="111111"/>
              </a:solidFill>
              <a:latin typeface="Georgia"/>
              <a:ea typeface="Georgia"/>
              <a:cs typeface="Georgia"/>
              <a:sym typeface="Georgia"/>
            </a:endParaRPr>
          </a:p>
        </p:txBody>
      </p:sp>
      <p:pic>
        <p:nvPicPr>
          <p:cNvPr id="214" name="Google Shape;214;p24"/>
          <p:cNvPicPr preferRelativeResize="0"/>
          <p:nvPr/>
        </p:nvPicPr>
        <p:blipFill>
          <a:blip r:embed="rId3">
            <a:alphaModFix/>
          </a:blip>
          <a:stretch>
            <a:fillRect/>
          </a:stretch>
        </p:blipFill>
        <p:spPr>
          <a:xfrm>
            <a:off x="6184250" y="3519050"/>
            <a:ext cx="909625" cy="909625"/>
          </a:xfrm>
          <a:prstGeom prst="rect">
            <a:avLst/>
          </a:prstGeom>
          <a:noFill/>
          <a:ln>
            <a:noFill/>
          </a:ln>
        </p:spPr>
      </p:pic>
      <p:pic>
        <p:nvPicPr>
          <p:cNvPr id="215" name="Google Shape;215;p24"/>
          <p:cNvPicPr preferRelativeResize="0"/>
          <p:nvPr/>
        </p:nvPicPr>
        <p:blipFill>
          <a:blip r:embed="rId4">
            <a:alphaModFix/>
          </a:blip>
          <a:stretch>
            <a:fillRect/>
          </a:stretch>
        </p:blipFill>
        <p:spPr>
          <a:xfrm>
            <a:off x="5164575" y="1213100"/>
            <a:ext cx="3082876" cy="22580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21" name="Google Shape;221;p25"/>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4</a:t>
            </a:r>
            <a:r>
              <a:rPr b="1" lang="en" sz="2400">
                <a:solidFill>
                  <a:schemeClr val="accent1"/>
                </a:solidFill>
                <a:latin typeface="Georgia"/>
                <a:ea typeface="Georgia"/>
                <a:cs typeface="Georgia"/>
                <a:sym typeface="Georgia"/>
              </a:rPr>
              <a:t>.   ASSEMBLING</a:t>
            </a:r>
            <a:endParaRPr b="1" sz="2400">
              <a:solidFill>
                <a:schemeClr val="accent1"/>
              </a:solidFill>
              <a:latin typeface="Georgia"/>
              <a:ea typeface="Georgia"/>
              <a:cs typeface="Georgia"/>
              <a:sym typeface="Georgia"/>
            </a:endParaRPr>
          </a:p>
        </p:txBody>
      </p:sp>
      <p:graphicFrame>
        <p:nvGraphicFramePr>
          <p:cNvPr id="222" name="Google Shape;222;p25"/>
          <p:cNvGraphicFramePr/>
          <p:nvPr/>
        </p:nvGraphicFramePr>
        <p:xfrm>
          <a:off x="1421870" y="1743484"/>
          <a:ext cx="3000000" cy="3000000"/>
        </p:xfrm>
        <a:graphic>
          <a:graphicData uri="http://schemas.openxmlformats.org/drawingml/2006/table">
            <a:tbl>
              <a:tblPr>
                <a:noFill/>
                <a:tableStyleId>{A6270E24-AF8B-47DE-84B5-F30B851AF571}</a:tableStyleId>
              </a:tblPr>
              <a:tblGrid>
                <a:gridCol w="1824950"/>
                <a:gridCol w="4654800"/>
              </a:tblGrid>
              <a:tr h="381000">
                <a:tc>
                  <a:txBody>
                    <a:bodyPr/>
                    <a:lstStyle/>
                    <a:p>
                      <a:pPr indent="0" lvl="0" marL="0" rtl="0" algn="l">
                        <a:spcBef>
                          <a:spcPts val="0"/>
                        </a:spcBef>
                        <a:spcAft>
                          <a:spcPts val="0"/>
                        </a:spcAft>
                        <a:buNone/>
                      </a:pPr>
                      <a:r>
                        <a:rPr lang="en">
                          <a:solidFill>
                            <a:srgbClr val="CC0000"/>
                          </a:solidFill>
                          <a:latin typeface="Georgia"/>
                          <a:ea typeface="Georgia"/>
                          <a:cs typeface="Georgia"/>
                          <a:sym typeface="Georgia"/>
                        </a:rPr>
                        <a:t>SPAdes</a:t>
                      </a:r>
                      <a:endParaRPr>
                        <a:solidFill>
                          <a:srgbClr val="CC0000"/>
                        </a:solidFill>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Georgia"/>
                          <a:ea typeface="Georgia"/>
                          <a:cs typeface="Georgia"/>
                          <a:sym typeface="Georgia"/>
                        </a:rPr>
                        <a:t>Prokaryotic</a:t>
                      </a:r>
                      <a:endParaRPr>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CC0000"/>
                          </a:solidFill>
                          <a:latin typeface="Georgia"/>
                          <a:ea typeface="Georgia"/>
                          <a:cs typeface="Georgia"/>
                          <a:sym typeface="Georgia"/>
                        </a:rPr>
                        <a:t>MaSuRCA</a:t>
                      </a:r>
                      <a:endParaRPr>
                        <a:solidFill>
                          <a:srgbClr val="CC0000"/>
                        </a:solidFill>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Georgia"/>
                          <a:ea typeface="Georgia"/>
                          <a:cs typeface="Georgia"/>
                          <a:sym typeface="Georgia"/>
                        </a:rPr>
                        <a:t>Short and long reads (eukaryotic)</a:t>
                      </a:r>
                      <a:endParaRPr>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CC0000"/>
                          </a:solidFill>
                          <a:latin typeface="Georgia"/>
                          <a:ea typeface="Georgia"/>
                          <a:cs typeface="Georgia"/>
                          <a:sym typeface="Georgia"/>
                        </a:rPr>
                        <a:t>Canu</a:t>
                      </a:r>
                      <a:endParaRPr>
                        <a:solidFill>
                          <a:srgbClr val="CC0000"/>
                        </a:solidFill>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Georgia"/>
                          <a:ea typeface="Georgia"/>
                          <a:cs typeface="Georgia"/>
                          <a:sym typeface="Georgia"/>
                        </a:rPr>
                        <a:t>Long reads</a:t>
                      </a:r>
                      <a:endParaRPr>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CC0000"/>
                          </a:solidFill>
                          <a:latin typeface="Georgia"/>
                          <a:ea typeface="Georgia"/>
                          <a:cs typeface="Georgia"/>
                          <a:sym typeface="Georgia"/>
                        </a:rPr>
                        <a:t>Falcon</a:t>
                      </a:r>
                      <a:endParaRPr>
                        <a:solidFill>
                          <a:srgbClr val="CC0000"/>
                        </a:solidFill>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Georgia"/>
                          <a:ea typeface="Georgia"/>
                          <a:cs typeface="Georgia"/>
                          <a:sym typeface="Georgia"/>
                        </a:rPr>
                        <a:t>Long</a:t>
                      </a:r>
                      <a:r>
                        <a:rPr lang="en">
                          <a:latin typeface="Georgia"/>
                          <a:ea typeface="Georgia"/>
                          <a:cs typeface="Georgia"/>
                          <a:sym typeface="Georgia"/>
                        </a:rPr>
                        <a:t> reads</a:t>
                      </a:r>
                      <a:endParaRPr>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rgbClr val="CC0000"/>
                          </a:solidFill>
                          <a:latin typeface="Georgia"/>
                          <a:ea typeface="Georgia"/>
                          <a:cs typeface="Georgia"/>
                          <a:sym typeface="Georgia"/>
                        </a:rPr>
                        <a:t>Platanus</a:t>
                      </a:r>
                      <a:endParaRPr>
                        <a:solidFill>
                          <a:srgbClr val="CC0000"/>
                        </a:solidFill>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Georgia"/>
                          <a:ea typeface="Georgia"/>
                          <a:cs typeface="Georgia"/>
                          <a:sym typeface="Georgia"/>
                        </a:rPr>
                        <a:t>Highly heterozygous</a:t>
                      </a:r>
                      <a:endParaRPr>
                        <a:latin typeface="Georgia"/>
                        <a:ea typeface="Georgia"/>
                        <a:cs typeface="Georgia"/>
                        <a:sym typeface="Georgia"/>
                      </a:endParaRPr>
                    </a:p>
                  </a:txBody>
                  <a:tcPr marT="91425" marB="91425" marR="91425" marL="91425">
                    <a:lnL cap="flat" cmpd="sng" w="9525">
                      <a:solidFill>
                        <a:srgbClr val="434343"/>
                      </a:solidFill>
                      <a:prstDash val="solid"/>
                      <a:round/>
                      <a:headEnd len="sm" w="sm" type="none"/>
                      <a:tailEnd len="sm" w="sm" type="none"/>
                    </a:lnL>
                    <a:lnR cap="flat" cmpd="sng" w="9525">
                      <a:solidFill>
                        <a:srgbClr val="434343"/>
                      </a:solidFill>
                      <a:prstDash val="solid"/>
                      <a:round/>
                      <a:headEnd len="sm" w="sm" type="none"/>
                      <a:tailEnd len="sm" w="sm" type="none"/>
                    </a:lnR>
                    <a:lnT cap="flat" cmpd="sng" w="9525">
                      <a:solidFill>
                        <a:srgbClr val="434343"/>
                      </a:solidFill>
                      <a:prstDash val="solid"/>
                      <a:round/>
                      <a:headEnd len="sm" w="sm" type="none"/>
                      <a:tailEnd len="sm" w="sm" type="none"/>
                    </a:lnT>
                    <a:lnB cap="flat" cmpd="sng" w="9525">
                      <a:solidFill>
                        <a:srgbClr val="434343"/>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28" name="Google Shape;228;p26"/>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4.   ASSEMBLING</a:t>
            </a:r>
            <a:endParaRPr b="1" sz="2400">
              <a:solidFill>
                <a:schemeClr val="accent1"/>
              </a:solidFill>
              <a:latin typeface="Georgia"/>
              <a:ea typeface="Georgia"/>
              <a:cs typeface="Georgia"/>
              <a:sym typeface="Georgia"/>
            </a:endParaRPr>
          </a:p>
        </p:txBody>
      </p:sp>
      <p:sp>
        <p:nvSpPr>
          <p:cNvPr id="229" name="Google Shape;229;p26"/>
          <p:cNvSpPr/>
          <p:nvPr/>
        </p:nvSpPr>
        <p:spPr>
          <a:xfrm>
            <a:off x="808949" y="1731625"/>
            <a:ext cx="3630600" cy="2567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230" name="Google Shape;230;p26"/>
          <p:cNvSpPr/>
          <p:nvPr/>
        </p:nvSpPr>
        <p:spPr>
          <a:xfrm>
            <a:off x="4702328" y="1731625"/>
            <a:ext cx="3630600" cy="2567700"/>
          </a:xfrm>
          <a:prstGeom prst="roundRect">
            <a:avLst>
              <a:gd fmla="val 16667" name="adj"/>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231" name="Google Shape;231;p26"/>
          <p:cNvSpPr txBox="1"/>
          <p:nvPr/>
        </p:nvSpPr>
        <p:spPr>
          <a:xfrm>
            <a:off x="1236900" y="1979541"/>
            <a:ext cx="2774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11111"/>
                </a:solidFill>
                <a:latin typeface="Georgia"/>
                <a:ea typeface="Georgia"/>
                <a:cs typeface="Georgia"/>
                <a:sym typeface="Georgia"/>
              </a:rPr>
              <a:t>De Brujin Graph (DBG)</a:t>
            </a:r>
            <a:endParaRPr b="1" sz="1600">
              <a:solidFill>
                <a:srgbClr val="111111"/>
              </a:solidFill>
              <a:latin typeface="Georgia"/>
              <a:ea typeface="Georgia"/>
              <a:cs typeface="Georgia"/>
              <a:sym typeface="Georgia"/>
            </a:endParaRPr>
          </a:p>
        </p:txBody>
      </p:sp>
      <p:sp>
        <p:nvSpPr>
          <p:cNvPr id="232" name="Google Shape;232;p26"/>
          <p:cNvSpPr txBox="1"/>
          <p:nvPr/>
        </p:nvSpPr>
        <p:spPr>
          <a:xfrm>
            <a:off x="4915475" y="1979541"/>
            <a:ext cx="3204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11111"/>
                </a:solidFill>
                <a:latin typeface="Georgia"/>
                <a:ea typeface="Georgia"/>
                <a:cs typeface="Georgia"/>
                <a:sym typeface="Georgia"/>
              </a:rPr>
              <a:t>Overlap string graph (OCL)</a:t>
            </a:r>
            <a:endParaRPr b="1" sz="1600">
              <a:solidFill>
                <a:srgbClr val="111111"/>
              </a:solidFill>
              <a:latin typeface="Georgia"/>
              <a:ea typeface="Georgia"/>
              <a:cs typeface="Georgia"/>
              <a:sym typeface="Georgia"/>
            </a:endParaRPr>
          </a:p>
        </p:txBody>
      </p:sp>
      <p:pic>
        <p:nvPicPr>
          <p:cNvPr descr="Imatge que conté text, Font, captura de pantalla, nombre&#10;&#10;Descripció generada automàticament" id="233" name="Google Shape;233;p26"/>
          <p:cNvPicPr preferRelativeResize="0"/>
          <p:nvPr/>
        </p:nvPicPr>
        <p:blipFill>
          <a:blip r:embed="rId3">
            <a:alphaModFix/>
          </a:blip>
          <a:stretch>
            <a:fillRect/>
          </a:stretch>
        </p:blipFill>
        <p:spPr>
          <a:xfrm>
            <a:off x="1665801" y="2373150"/>
            <a:ext cx="1781175" cy="1752600"/>
          </a:xfrm>
          <a:prstGeom prst="rect">
            <a:avLst/>
          </a:prstGeom>
          <a:noFill/>
          <a:ln>
            <a:noFill/>
          </a:ln>
        </p:spPr>
      </p:pic>
      <p:pic>
        <p:nvPicPr>
          <p:cNvPr id="234" name="Google Shape;234;p26"/>
          <p:cNvPicPr preferRelativeResize="0"/>
          <p:nvPr/>
        </p:nvPicPr>
        <p:blipFill>
          <a:blip r:embed="rId4">
            <a:alphaModFix/>
          </a:blip>
          <a:stretch>
            <a:fillRect/>
          </a:stretch>
        </p:blipFill>
        <p:spPr>
          <a:xfrm>
            <a:off x="5046013" y="2392200"/>
            <a:ext cx="2943225" cy="1714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40" name="Google Shape;240;p27"/>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4.   ASSEMBLING</a:t>
            </a:r>
            <a:endParaRPr b="1" sz="2400">
              <a:solidFill>
                <a:schemeClr val="accent1"/>
              </a:solidFill>
              <a:latin typeface="Georgia"/>
              <a:ea typeface="Georgia"/>
              <a:cs typeface="Georgia"/>
              <a:sym typeface="Georgia"/>
            </a:endParaRPr>
          </a:p>
        </p:txBody>
      </p:sp>
      <p:sp>
        <p:nvSpPr>
          <p:cNvPr id="241" name="Google Shape;241;p27"/>
          <p:cNvSpPr/>
          <p:nvPr/>
        </p:nvSpPr>
        <p:spPr>
          <a:xfrm>
            <a:off x="808949" y="1731625"/>
            <a:ext cx="3630600" cy="25677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242" name="Google Shape;242;p27"/>
          <p:cNvSpPr/>
          <p:nvPr/>
        </p:nvSpPr>
        <p:spPr>
          <a:xfrm>
            <a:off x="4702328" y="1731625"/>
            <a:ext cx="3630600" cy="2567700"/>
          </a:xfrm>
          <a:prstGeom prst="roundRect">
            <a:avLst>
              <a:gd fmla="val 16667" name="adj"/>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243" name="Google Shape;243;p27"/>
          <p:cNvSpPr txBox="1"/>
          <p:nvPr/>
        </p:nvSpPr>
        <p:spPr>
          <a:xfrm>
            <a:off x="1236900" y="1979541"/>
            <a:ext cx="2774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11111"/>
                </a:solidFill>
                <a:latin typeface="Georgia"/>
                <a:ea typeface="Georgia"/>
                <a:cs typeface="Georgia"/>
                <a:sym typeface="Georgia"/>
              </a:rPr>
              <a:t>De Brujin Graph (DBG)</a:t>
            </a:r>
            <a:endParaRPr b="1" sz="1600">
              <a:solidFill>
                <a:srgbClr val="111111"/>
              </a:solidFill>
              <a:latin typeface="Georgia"/>
              <a:ea typeface="Georgia"/>
              <a:cs typeface="Georgia"/>
              <a:sym typeface="Georgia"/>
            </a:endParaRPr>
          </a:p>
        </p:txBody>
      </p:sp>
      <p:sp>
        <p:nvSpPr>
          <p:cNvPr id="244" name="Google Shape;244;p27"/>
          <p:cNvSpPr txBox="1"/>
          <p:nvPr/>
        </p:nvSpPr>
        <p:spPr>
          <a:xfrm>
            <a:off x="4915475" y="1979541"/>
            <a:ext cx="3204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111111"/>
                </a:solidFill>
                <a:latin typeface="Georgia"/>
                <a:ea typeface="Georgia"/>
                <a:cs typeface="Georgia"/>
                <a:sym typeface="Georgia"/>
              </a:rPr>
              <a:t>Overlap string graph (OCL)</a:t>
            </a:r>
            <a:endParaRPr b="1" sz="1600">
              <a:solidFill>
                <a:srgbClr val="111111"/>
              </a:solidFill>
              <a:latin typeface="Georgia"/>
              <a:ea typeface="Georgia"/>
              <a:cs typeface="Georgia"/>
              <a:sym typeface="Georgia"/>
            </a:endParaRPr>
          </a:p>
        </p:txBody>
      </p:sp>
      <p:sp>
        <p:nvSpPr>
          <p:cNvPr id="245" name="Google Shape;245;p27"/>
          <p:cNvSpPr txBox="1"/>
          <p:nvPr/>
        </p:nvSpPr>
        <p:spPr>
          <a:xfrm>
            <a:off x="966900" y="2388036"/>
            <a:ext cx="3421800" cy="12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11111"/>
                </a:solidFill>
                <a:latin typeface="Georgia"/>
                <a:ea typeface="Georgia"/>
                <a:cs typeface="Georgia"/>
                <a:sym typeface="Georgia"/>
              </a:rPr>
              <a:t>Euler-USR</a:t>
            </a:r>
            <a:endParaRPr b="1"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Velvet </a:t>
            </a:r>
            <a:r>
              <a:rPr lang="en" sz="1100">
                <a:solidFill>
                  <a:srgbClr val="111111"/>
                </a:solidFill>
                <a:latin typeface="Georgia"/>
                <a:ea typeface="Georgia"/>
                <a:cs typeface="Georgia"/>
                <a:sym typeface="Georgia"/>
              </a:rPr>
              <a:t>(short read to eliminate errors and resolve repeats).</a:t>
            </a:r>
            <a:endParaRPr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ABySS</a:t>
            </a:r>
            <a:r>
              <a:rPr lang="en" sz="1100">
                <a:solidFill>
                  <a:srgbClr val="111111"/>
                </a:solidFill>
                <a:latin typeface="Georgia"/>
                <a:ea typeface="Georgia"/>
                <a:cs typeface="Georgia"/>
                <a:sym typeface="Georgia"/>
              </a:rPr>
              <a:t>(identify </a:t>
            </a:r>
            <a:r>
              <a:rPr lang="en" sz="1100">
                <a:solidFill>
                  <a:srgbClr val="111111"/>
                </a:solidFill>
                <a:latin typeface="Georgia"/>
                <a:ea typeface="Georgia"/>
                <a:cs typeface="Georgia"/>
                <a:sym typeface="Georgia"/>
              </a:rPr>
              <a:t>polymorphic</a:t>
            </a:r>
            <a:r>
              <a:rPr lang="en" sz="1100">
                <a:solidFill>
                  <a:srgbClr val="111111"/>
                </a:solidFill>
                <a:latin typeface="Georgia"/>
                <a:ea typeface="Georgia"/>
                <a:cs typeface="Georgia"/>
                <a:sym typeface="Georgia"/>
              </a:rPr>
              <a:t> regions, assembles large data sets and identifies indels and novel sequences).</a:t>
            </a:r>
            <a:endParaRPr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AllPath-LG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SOAPdenovo</a:t>
            </a:r>
            <a:endParaRPr b="1" sz="1100">
              <a:solidFill>
                <a:srgbClr val="111111"/>
              </a:solidFill>
              <a:latin typeface="Georgia"/>
              <a:ea typeface="Georgia"/>
              <a:cs typeface="Georgia"/>
              <a:sym typeface="Georgia"/>
            </a:endParaRPr>
          </a:p>
        </p:txBody>
      </p:sp>
      <p:sp>
        <p:nvSpPr>
          <p:cNvPr id="246" name="Google Shape;246;p27"/>
          <p:cNvSpPr txBox="1"/>
          <p:nvPr/>
        </p:nvSpPr>
        <p:spPr>
          <a:xfrm>
            <a:off x="4970675" y="2398364"/>
            <a:ext cx="3093900" cy="125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111111"/>
                </a:solidFill>
                <a:latin typeface="Georgia"/>
                <a:ea typeface="Georgia"/>
                <a:cs typeface="Georgia"/>
                <a:sym typeface="Georgia"/>
              </a:rPr>
              <a:t>Aeachne</a:t>
            </a:r>
            <a:endParaRPr b="1"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Celera Assembler</a:t>
            </a:r>
            <a:r>
              <a:rPr lang="en" sz="1100">
                <a:solidFill>
                  <a:srgbClr val="111111"/>
                </a:solidFill>
                <a:latin typeface="Georgia"/>
                <a:ea typeface="Georgia"/>
                <a:cs typeface="Georgia"/>
                <a:sym typeface="Georgia"/>
              </a:rPr>
              <a:t> (handles data from different platforms)</a:t>
            </a:r>
            <a:endParaRPr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CAP3 </a:t>
            </a:r>
            <a:r>
              <a:rPr lang="en" sz="1100">
                <a:solidFill>
                  <a:srgbClr val="111111"/>
                </a:solidFill>
                <a:latin typeface="Georgia"/>
                <a:ea typeface="Georgia"/>
                <a:cs typeface="Georgia"/>
                <a:sym typeface="Georgia"/>
              </a:rPr>
              <a:t>(large genomes)</a:t>
            </a:r>
            <a:endParaRPr sz="11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PCAP</a:t>
            </a:r>
            <a:endParaRPr b="1" sz="11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Pharp</a:t>
            </a:r>
            <a:endParaRPr b="1" sz="11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Phusion</a:t>
            </a:r>
            <a:endParaRPr b="1" sz="1100">
              <a:solidFill>
                <a:srgbClr val="111111"/>
              </a:solidFill>
              <a:latin typeface="Georgia"/>
              <a:ea typeface="Georgia"/>
              <a:cs typeface="Georgia"/>
              <a:sym typeface="Georgia"/>
            </a:endParaRPr>
          </a:p>
          <a:p>
            <a:pPr indent="0" lvl="0" marL="0" rtl="0" algn="l">
              <a:spcBef>
                <a:spcPts val="0"/>
              </a:spcBef>
              <a:spcAft>
                <a:spcPts val="0"/>
              </a:spcAft>
              <a:buNone/>
            </a:pPr>
            <a:r>
              <a:rPr b="1" lang="en" sz="1100">
                <a:solidFill>
                  <a:srgbClr val="111111"/>
                </a:solidFill>
                <a:latin typeface="Georgia"/>
                <a:ea typeface="Georgia"/>
                <a:cs typeface="Georgia"/>
                <a:sym typeface="Georgia"/>
              </a:rPr>
              <a:t>Newbler</a:t>
            </a:r>
            <a:r>
              <a:rPr lang="en" sz="1100">
                <a:solidFill>
                  <a:srgbClr val="111111"/>
                </a:solidFill>
                <a:latin typeface="Georgia"/>
                <a:ea typeface="Georgia"/>
                <a:cs typeface="Georgia"/>
                <a:sym typeface="Georgia"/>
              </a:rPr>
              <a:t> (de novo assembly from Roche 454)</a:t>
            </a:r>
            <a:endParaRPr sz="1100">
              <a:solidFill>
                <a:srgbClr val="111111"/>
              </a:solidFill>
              <a:latin typeface="Georgia"/>
              <a:ea typeface="Georgia"/>
              <a:cs typeface="Georgia"/>
              <a:sym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52" name="Google Shape;252;p28"/>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5</a:t>
            </a:r>
            <a:r>
              <a:rPr b="1" lang="en" sz="2400">
                <a:solidFill>
                  <a:schemeClr val="accent1"/>
                </a:solidFill>
                <a:latin typeface="Georgia"/>
                <a:ea typeface="Georgia"/>
                <a:cs typeface="Georgia"/>
                <a:sym typeface="Georgia"/>
              </a:rPr>
              <a:t>.   POST PROCESSING</a:t>
            </a:r>
            <a:endParaRPr b="1" sz="2400">
              <a:solidFill>
                <a:schemeClr val="accent1"/>
              </a:solidFill>
              <a:latin typeface="Georgia"/>
              <a:ea typeface="Georgia"/>
              <a:cs typeface="Georgia"/>
              <a:sym typeface="Georgia"/>
            </a:endParaRPr>
          </a:p>
        </p:txBody>
      </p:sp>
      <p:sp>
        <p:nvSpPr>
          <p:cNvPr id="253" name="Google Shape;253;p28"/>
          <p:cNvSpPr txBox="1"/>
          <p:nvPr>
            <p:ph idx="4294967295" type="body"/>
          </p:nvPr>
        </p:nvSpPr>
        <p:spPr>
          <a:xfrm>
            <a:off x="906199" y="1469675"/>
            <a:ext cx="1978800" cy="1762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2000">
                <a:solidFill>
                  <a:srgbClr val="FFFFFF"/>
                </a:solidFill>
                <a:highlight>
                  <a:srgbClr val="FF0000"/>
                </a:highlight>
              </a:rPr>
              <a:t>Scaffolding</a:t>
            </a:r>
            <a:endParaRPr sz="2000">
              <a:solidFill>
                <a:srgbClr val="FFFFFF"/>
              </a:solidFill>
              <a:highlight>
                <a:srgbClr val="FF0000"/>
              </a:highlight>
            </a:endParaRPr>
          </a:p>
          <a:p>
            <a:pPr indent="0" lvl="0" marL="0" rtl="0" algn="l">
              <a:spcBef>
                <a:spcPts val="600"/>
              </a:spcBef>
              <a:spcAft>
                <a:spcPts val="0"/>
              </a:spcAft>
              <a:buNone/>
            </a:pPr>
            <a:r>
              <a:rPr lang="en" sz="1100"/>
              <a:t>Fills the unknown sequences between gaps.</a:t>
            </a:r>
            <a:endParaRPr sz="1100"/>
          </a:p>
          <a:p>
            <a:pPr indent="0" lvl="0" marL="0" rtl="0" algn="l">
              <a:spcBef>
                <a:spcPts val="600"/>
              </a:spcBef>
              <a:spcAft>
                <a:spcPts val="0"/>
              </a:spcAft>
              <a:buNone/>
            </a:pPr>
            <a:r>
              <a:t/>
            </a:r>
            <a:endParaRPr i="1" sz="1100"/>
          </a:p>
        </p:txBody>
      </p:sp>
      <p:sp>
        <p:nvSpPr>
          <p:cNvPr id="254" name="Google Shape;254;p28"/>
          <p:cNvSpPr txBox="1"/>
          <p:nvPr>
            <p:ph idx="4294967295" type="body"/>
          </p:nvPr>
        </p:nvSpPr>
        <p:spPr>
          <a:xfrm>
            <a:off x="2817950" y="1469675"/>
            <a:ext cx="2063700" cy="163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rgbClr val="FFFFFF"/>
                </a:solidFill>
                <a:highlight>
                  <a:srgbClr val="FF0000"/>
                </a:highlight>
              </a:rPr>
              <a:t>Gap filling</a:t>
            </a:r>
            <a:endParaRPr b="1"/>
          </a:p>
          <a:p>
            <a:pPr indent="0" lvl="0" marL="0" rtl="0" algn="l">
              <a:spcBef>
                <a:spcPts val="600"/>
              </a:spcBef>
              <a:spcAft>
                <a:spcPts val="0"/>
              </a:spcAft>
              <a:buNone/>
            </a:pPr>
            <a:r>
              <a:rPr lang="en" sz="1100"/>
              <a:t>Replacing N’s with sequence, often using long reads.</a:t>
            </a:r>
            <a:endParaRPr sz="1100"/>
          </a:p>
          <a:p>
            <a:pPr indent="0" lvl="0" marL="0" rtl="0" algn="l">
              <a:spcBef>
                <a:spcPts val="600"/>
              </a:spcBef>
              <a:spcAft>
                <a:spcPts val="0"/>
              </a:spcAft>
              <a:buNone/>
            </a:pPr>
            <a:r>
              <a:t/>
            </a:r>
            <a:endParaRPr sz="1100"/>
          </a:p>
          <a:p>
            <a:pPr indent="0" lvl="0" marL="0" rtl="0" algn="l">
              <a:spcBef>
                <a:spcPts val="600"/>
              </a:spcBef>
              <a:spcAft>
                <a:spcPts val="0"/>
              </a:spcAft>
              <a:buNone/>
            </a:pPr>
            <a:r>
              <a:t/>
            </a:r>
            <a:endParaRPr sz="1100"/>
          </a:p>
        </p:txBody>
      </p:sp>
      <p:sp>
        <p:nvSpPr>
          <p:cNvPr id="255" name="Google Shape;255;p28"/>
          <p:cNvSpPr txBox="1"/>
          <p:nvPr>
            <p:ph idx="4294967295" type="body"/>
          </p:nvPr>
        </p:nvSpPr>
        <p:spPr>
          <a:xfrm>
            <a:off x="906200" y="3164825"/>
            <a:ext cx="2809500" cy="189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solidFill>
                  <a:srgbClr val="FFFFFF"/>
                </a:solidFill>
                <a:highlight>
                  <a:srgbClr val="FF0000"/>
                </a:highlight>
              </a:rPr>
              <a:t>Polishing</a:t>
            </a:r>
            <a:endParaRPr b="1"/>
          </a:p>
          <a:p>
            <a:pPr indent="0" lvl="0" marL="0" rtl="0" algn="l">
              <a:spcBef>
                <a:spcPts val="600"/>
              </a:spcBef>
              <a:spcAft>
                <a:spcPts val="0"/>
              </a:spcAft>
              <a:buNone/>
            </a:pPr>
            <a:r>
              <a:rPr lang="en" sz="1100"/>
              <a:t>Correct errors with extra readings.</a:t>
            </a:r>
            <a:endParaRPr sz="1100"/>
          </a:p>
          <a:p>
            <a:pPr indent="0" lvl="0" marL="0" rtl="0" algn="l">
              <a:spcBef>
                <a:spcPts val="600"/>
              </a:spcBef>
              <a:spcAft>
                <a:spcPts val="0"/>
              </a:spcAft>
              <a:buNone/>
            </a:pPr>
            <a:r>
              <a:rPr lang="en" sz="1100"/>
              <a:t>Helps to improve local  base accuracy.</a:t>
            </a:r>
            <a:endParaRPr sz="1100"/>
          </a:p>
          <a:p>
            <a:pPr indent="0" lvl="0" marL="0" rtl="0" algn="l">
              <a:spcBef>
                <a:spcPts val="600"/>
              </a:spcBef>
              <a:spcAft>
                <a:spcPts val="0"/>
              </a:spcAft>
              <a:buNone/>
            </a:pPr>
            <a:r>
              <a:rPr b="1" i="1" lang="en" sz="1100"/>
              <a:t>Pilon, Rakon, Medaka.</a:t>
            </a:r>
            <a:endParaRPr b="1" i="1" sz="1100"/>
          </a:p>
        </p:txBody>
      </p:sp>
      <p:sp>
        <p:nvSpPr>
          <p:cNvPr id="256" name="Google Shape;256;p28"/>
          <p:cNvSpPr txBox="1"/>
          <p:nvPr/>
        </p:nvSpPr>
        <p:spPr>
          <a:xfrm>
            <a:off x="1212725" y="2346975"/>
            <a:ext cx="40425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11111"/>
                </a:solidFill>
                <a:latin typeface="Georgia"/>
                <a:ea typeface="Georgia"/>
                <a:cs typeface="Georgia"/>
                <a:sym typeface="Georgia"/>
              </a:rPr>
              <a:t>Both can be performed with low coverage.</a:t>
            </a:r>
            <a:endParaRPr sz="1100">
              <a:solidFill>
                <a:srgbClr val="111111"/>
              </a:solidFill>
              <a:latin typeface="Georgia"/>
              <a:ea typeface="Georgia"/>
              <a:cs typeface="Georgia"/>
              <a:sym typeface="Georgia"/>
            </a:endParaRPr>
          </a:p>
          <a:p>
            <a:pPr indent="0" lvl="0" marL="0" rtl="0" algn="l">
              <a:spcBef>
                <a:spcPts val="600"/>
              </a:spcBef>
              <a:spcAft>
                <a:spcPts val="0"/>
              </a:spcAft>
              <a:buNone/>
            </a:pPr>
            <a:r>
              <a:rPr b="1" i="1" lang="en" sz="1100">
                <a:solidFill>
                  <a:schemeClr val="dk1"/>
                </a:solidFill>
                <a:latin typeface="Georgia"/>
                <a:ea typeface="Georgia"/>
                <a:cs typeface="Georgia"/>
                <a:sym typeface="Georgia"/>
              </a:rPr>
              <a:t>SALSA, HiRise, 3D-DNA, ALLMAPS, Supernova,  ARCS</a:t>
            </a:r>
            <a:r>
              <a:rPr i="1" lang="en" sz="1100">
                <a:solidFill>
                  <a:schemeClr val="dk1"/>
                </a:solidFill>
                <a:latin typeface="Georgia"/>
                <a:ea typeface="Georgia"/>
                <a:cs typeface="Georgia"/>
                <a:sym typeface="Georgia"/>
              </a:rPr>
              <a:t>.</a:t>
            </a:r>
            <a:endParaRPr i="1" sz="1100">
              <a:solidFill>
                <a:schemeClr val="dk1"/>
              </a:solidFill>
              <a:latin typeface="Georgia"/>
              <a:ea typeface="Georgia"/>
              <a:cs typeface="Georgia"/>
              <a:sym typeface="Georgia"/>
            </a:endParaRPr>
          </a:p>
          <a:p>
            <a:pPr indent="0" lvl="0" marL="0" rtl="0" algn="l">
              <a:spcBef>
                <a:spcPts val="0"/>
              </a:spcBef>
              <a:spcAft>
                <a:spcPts val="0"/>
              </a:spcAft>
              <a:buNone/>
            </a:pPr>
            <a:r>
              <a:t/>
            </a:r>
            <a:endParaRPr sz="1100">
              <a:solidFill>
                <a:srgbClr val="111111"/>
              </a:solidFill>
              <a:latin typeface="Georgia"/>
              <a:ea typeface="Georgia"/>
              <a:cs typeface="Georgia"/>
              <a:sym typeface="Georgia"/>
            </a:endParaRPr>
          </a:p>
        </p:txBody>
      </p:sp>
      <p:pic>
        <p:nvPicPr>
          <p:cNvPr id="257" name="Google Shape;257;p28"/>
          <p:cNvPicPr preferRelativeResize="0"/>
          <p:nvPr/>
        </p:nvPicPr>
        <p:blipFill>
          <a:blip r:embed="rId3">
            <a:alphaModFix/>
          </a:blip>
          <a:stretch>
            <a:fillRect/>
          </a:stretch>
        </p:blipFill>
        <p:spPr>
          <a:xfrm>
            <a:off x="4881650" y="1642075"/>
            <a:ext cx="3590075" cy="245700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9"/>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63" name="Google Shape;263;p29"/>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6</a:t>
            </a:r>
            <a:r>
              <a:rPr b="1" lang="en" sz="2400">
                <a:solidFill>
                  <a:schemeClr val="accent1"/>
                </a:solidFill>
                <a:latin typeface="Georgia"/>
                <a:ea typeface="Georgia"/>
                <a:cs typeface="Georgia"/>
                <a:sym typeface="Georgia"/>
              </a:rPr>
              <a:t>.   ANNOTATION</a:t>
            </a:r>
            <a:endParaRPr b="1" sz="2400">
              <a:solidFill>
                <a:schemeClr val="accent1"/>
              </a:solidFill>
              <a:latin typeface="Georgia"/>
              <a:ea typeface="Georgia"/>
              <a:cs typeface="Georgia"/>
              <a:sym typeface="Georgia"/>
            </a:endParaRPr>
          </a:p>
        </p:txBody>
      </p:sp>
      <p:sp>
        <p:nvSpPr>
          <p:cNvPr id="264" name="Google Shape;264;p29"/>
          <p:cNvSpPr/>
          <p:nvPr/>
        </p:nvSpPr>
        <p:spPr>
          <a:xfrm>
            <a:off x="-764350" y="2342277"/>
            <a:ext cx="11551920" cy="1011044"/>
          </a:xfrm>
          <a:custGeom>
            <a:rect b="b" l="l" r="r" t="t"/>
            <a:pathLst>
              <a:path extrusionOk="0" h="1348058" w="1219200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cap="flat" cmpd="sng" w="228600">
            <a:solidFill>
              <a:schemeClr val="dk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65" name="Google Shape;265;p29"/>
          <p:cNvGrpSpPr/>
          <p:nvPr/>
        </p:nvGrpSpPr>
        <p:grpSpPr>
          <a:xfrm>
            <a:off x="1493583" y="1674649"/>
            <a:ext cx="598378" cy="473400"/>
            <a:chOff x="1786339" y="1703401"/>
            <a:chExt cx="473400" cy="473400"/>
          </a:xfrm>
        </p:grpSpPr>
        <p:sp>
          <p:nvSpPr>
            <p:cNvPr id="266" name="Google Shape;266;p29"/>
            <p:cNvSpPr/>
            <p:nvPr/>
          </p:nvSpPr>
          <p:spPr>
            <a:xfrm rot="8100000">
              <a:off x="1855667" y="1772729"/>
              <a:ext cx="334744" cy="334744"/>
            </a:xfrm>
            <a:prstGeom prst="teardrop">
              <a:avLst>
                <a:gd fmla="val 10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267" name="Google Shape;267;p29"/>
            <p:cNvSpPr/>
            <p:nvPr/>
          </p:nvSpPr>
          <p:spPr>
            <a:xfrm>
              <a:off x="195598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Georgia"/>
                  <a:ea typeface="Georgia"/>
                  <a:cs typeface="Georgia"/>
                  <a:sym typeface="Georgia"/>
                </a:rPr>
                <a:t>1</a:t>
              </a:r>
              <a:endParaRPr sz="600">
                <a:solidFill>
                  <a:schemeClr val="dk2"/>
                </a:solidFill>
                <a:latin typeface="Georgia"/>
                <a:ea typeface="Georgia"/>
                <a:cs typeface="Georgia"/>
                <a:sym typeface="Georgia"/>
              </a:endParaRPr>
            </a:p>
          </p:txBody>
        </p:sp>
      </p:grpSp>
      <p:grpSp>
        <p:nvGrpSpPr>
          <p:cNvPr id="268" name="Google Shape;268;p29"/>
          <p:cNvGrpSpPr/>
          <p:nvPr/>
        </p:nvGrpSpPr>
        <p:grpSpPr>
          <a:xfrm>
            <a:off x="4057070" y="1674649"/>
            <a:ext cx="598378" cy="473400"/>
            <a:chOff x="3814414" y="1703401"/>
            <a:chExt cx="473400" cy="473400"/>
          </a:xfrm>
        </p:grpSpPr>
        <p:sp>
          <p:nvSpPr>
            <p:cNvPr id="269" name="Google Shape;269;p29"/>
            <p:cNvSpPr/>
            <p:nvPr/>
          </p:nvSpPr>
          <p:spPr>
            <a:xfrm rot="8100000">
              <a:off x="3883742" y="1772729"/>
              <a:ext cx="334744" cy="334744"/>
            </a:xfrm>
            <a:prstGeom prst="teardrop">
              <a:avLst>
                <a:gd fmla="val 10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270" name="Google Shape;270;p29"/>
            <p:cNvSpPr/>
            <p:nvPr/>
          </p:nvSpPr>
          <p:spPr>
            <a:xfrm>
              <a:off x="3984064"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Georgia"/>
                  <a:ea typeface="Georgia"/>
                  <a:cs typeface="Georgia"/>
                  <a:sym typeface="Georgia"/>
                </a:rPr>
                <a:t>3</a:t>
              </a:r>
              <a:endParaRPr sz="600">
                <a:solidFill>
                  <a:schemeClr val="dk2"/>
                </a:solidFill>
                <a:latin typeface="Georgia"/>
                <a:ea typeface="Georgia"/>
                <a:cs typeface="Georgia"/>
                <a:sym typeface="Georgia"/>
              </a:endParaRPr>
            </a:p>
          </p:txBody>
        </p:sp>
      </p:grpSp>
      <p:grpSp>
        <p:nvGrpSpPr>
          <p:cNvPr id="271" name="Google Shape;271;p29"/>
          <p:cNvGrpSpPr/>
          <p:nvPr/>
        </p:nvGrpSpPr>
        <p:grpSpPr>
          <a:xfrm>
            <a:off x="6620557" y="1674649"/>
            <a:ext cx="598378" cy="473400"/>
            <a:chOff x="5842489" y="1703401"/>
            <a:chExt cx="473400" cy="473400"/>
          </a:xfrm>
        </p:grpSpPr>
        <p:sp>
          <p:nvSpPr>
            <p:cNvPr id="272" name="Google Shape;272;p29"/>
            <p:cNvSpPr/>
            <p:nvPr/>
          </p:nvSpPr>
          <p:spPr>
            <a:xfrm rot="8100000">
              <a:off x="5911817" y="1772729"/>
              <a:ext cx="334744" cy="334744"/>
            </a:xfrm>
            <a:prstGeom prst="teardrop">
              <a:avLst>
                <a:gd fmla="val 10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273" name="Google Shape;273;p29"/>
            <p:cNvSpPr/>
            <p:nvPr/>
          </p:nvSpPr>
          <p:spPr>
            <a:xfrm>
              <a:off x="6012139" y="1866499"/>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Georgia"/>
                  <a:ea typeface="Georgia"/>
                  <a:cs typeface="Georgia"/>
                  <a:sym typeface="Georgia"/>
                </a:rPr>
                <a:t>5</a:t>
              </a:r>
              <a:endParaRPr sz="600">
                <a:solidFill>
                  <a:schemeClr val="dk2"/>
                </a:solidFill>
                <a:latin typeface="Georgia"/>
                <a:ea typeface="Georgia"/>
                <a:cs typeface="Georgia"/>
                <a:sym typeface="Georgia"/>
              </a:endParaRPr>
            </a:p>
          </p:txBody>
        </p:sp>
      </p:grpSp>
      <p:grpSp>
        <p:nvGrpSpPr>
          <p:cNvPr id="274" name="Google Shape;274;p29"/>
          <p:cNvGrpSpPr/>
          <p:nvPr/>
        </p:nvGrpSpPr>
        <p:grpSpPr>
          <a:xfrm>
            <a:off x="5369513" y="3547548"/>
            <a:ext cx="598378" cy="473400"/>
            <a:chOff x="4852739" y="3576300"/>
            <a:chExt cx="473400" cy="473400"/>
          </a:xfrm>
        </p:grpSpPr>
        <p:sp>
          <p:nvSpPr>
            <p:cNvPr id="275" name="Google Shape;275;p29"/>
            <p:cNvSpPr/>
            <p:nvPr/>
          </p:nvSpPr>
          <p:spPr>
            <a:xfrm rot="-2700000">
              <a:off x="4922067" y="3645628"/>
              <a:ext cx="334744" cy="334744"/>
            </a:xfrm>
            <a:prstGeom prst="teardrop">
              <a:avLst>
                <a:gd fmla="val 10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276" name="Google Shape;276;p29"/>
            <p:cNvSpPr/>
            <p:nvPr/>
          </p:nvSpPr>
          <p:spPr>
            <a:xfrm flipH="1">
              <a:off x="5022389"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Georgia"/>
                  <a:ea typeface="Georgia"/>
                  <a:cs typeface="Georgia"/>
                  <a:sym typeface="Georgia"/>
                </a:rPr>
                <a:t>4</a:t>
              </a:r>
              <a:endParaRPr sz="600">
                <a:solidFill>
                  <a:schemeClr val="dk2"/>
                </a:solidFill>
                <a:latin typeface="Georgia"/>
                <a:ea typeface="Georgia"/>
                <a:cs typeface="Georgia"/>
                <a:sym typeface="Georgia"/>
              </a:endParaRPr>
            </a:p>
          </p:txBody>
        </p:sp>
      </p:grpSp>
      <p:grpSp>
        <p:nvGrpSpPr>
          <p:cNvPr id="277" name="Google Shape;277;p29"/>
          <p:cNvGrpSpPr/>
          <p:nvPr/>
        </p:nvGrpSpPr>
        <p:grpSpPr>
          <a:xfrm>
            <a:off x="2806026" y="3547548"/>
            <a:ext cx="598378" cy="473400"/>
            <a:chOff x="2824664" y="3576300"/>
            <a:chExt cx="473400" cy="473400"/>
          </a:xfrm>
        </p:grpSpPr>
        <p:sp>
          <p:nvSpPr>
            <p:cNvPr id="278" name="Google Shape;278;p29"/>
            <p:cNvSpPr/>
            <p:nvPr/>
          </p:nvSpPr>
          <p:spPr>
            <a:xfrm rot="-2700000">
              <a:off x="2893992" y="3645628"/>
              <a:ext cx="334744" cy="334744"/>
            </a:xfrm>
            <a:prstGeom prst="teardrop">
              <a:avLst>
                <a:gd fmla="val 10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eorgia"/>
                <a:ea typeface="Georgia"/>
                <a:cs typeface="Georgia"/>
                <a:sym typeface="Georgia"/>
              </a:endParaRPr>
            </a:p>
          </p:txBody>
        </p:sp>
        <p:sp>
          <p:nvSpPr>
            <p:cNvPr id="279" name="Google Shape;279;p29"/>
            <p:cNvSpPr/>
            <p:nvPr/>
          </p:nvSpPr>
          <p:spPr>
            <a:xfrm flipH="1">
              <a:off x="2994314" y="3752502"/>
              <a:ext cx="134100" cy="134100"/>
            </a:xfrm>
            <a:prstGeom prst="ellipse">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None/>
              </a:pPr>
              <a:r>
                <a:rPr lang="en" sz="600">
                  <a:solidFill>
                    <a:schemeClr val="dk2"/>
                  </a:solidFill>
                  <a:latin typeface="Georgia"/>
                  <a:ea typeface="Georgia"/>
                  <a:cs typeface="Georgia"/>
                  <a:sym typeface="Georgia"/>
                </a:rPr>
                <a:t>2</a:t>
              </a:r>
              <a:endParaRPr sz="600">
                <a:solidFill>
                  <a:schemeClr val="dk2"/>
                </a:solidFill>
                <a:latin typeface="Georgia"/>
                <a:ea typeface="Georgia"/>
                <a:cs typeface="Georgia"/>
                <a:sym typeface="Georgia"/>
              </a:endParaRPr>
            </a:p>
          </p:txBody>
        </p:sp>
      </p:grpSp>
      <p:sp>
        <p:nvSpPr>
          <p:cNvPr id="280" name="Google Shape;280;p29"/>
          <p:cNvSpPr txBox="1"/>
          <p:nvPr/>
        </p:nvSpPr>
        <p:spPr>
          <a:xfrm>
            <a:off x="1122368" y="1194378"/>
            <a:ext cx="14772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Repeat Masking </a:t>
            </a:r>
            <a:endParaRPr sz="900">
              <a:solidFill>
                <a:schemeClr val="dk2"/>
              </a:solidFill>
              <a:latin typeface="Georgia"/>
              <a:ea typeface="Georgia"/>
              <a:cs typeface="Georgia"/>
              <a:sym typeface="Georgia"/>
            </a:endParaRPr>
          </a:p>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(Repeat Modeler and RepeatMasker)</a:t>
            </a:r>
            <a:endParaRPr sz="900">
              <a:solidFill>
                <a:schemeClr val="dk2"/>
              </a:solidFill>
              <a:latin typeface="Georgia"/>
              <a:ea typeface="Georgia"/>
              <a:cs typeface="Georgia"/>
              <a:sym typeface="Georgia"/>
            </a:endParaRPr>
          </a:p>
        </p:txBody>
      </p:sp>
      <p:sp>
        <p:nvSpPr>
          <p:cNvPr id="281" name="Google Shape;281;p29"/>
          <p:cNvSpPr txBox="1"/>
          <p:nvPr/>
        </p:nvSpPr>
        <p:spPr>
          <a:xfrm>
            <a:off x="3626290" y="1127350"/>
            <a:ext cx="14772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Evidence integration</a:t>
            </a:r>
            <a:endParaRPr sz="900">
              <a:solidFill>
                <a:schemeClr val="dk2"/>
              </a:solidFill>
              <a:latin typeface="Georgia"/>
              <a:ea typeface="Georgia"/>
              <a:cs typeface="Georgia"/>
              <a:sym typeface="Georgia"/>
            </a:endParaRPr>
          </a:p>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(MAKER or PASA)</a:t>
            </a:r>
            <a:endParaRPr sz="900">
              <a:solidFill>
                <a:schemeClr val="dk2"/>
              </a:solidFill>
              <a:latin typeface="Georgia"/>
              <a:ea typeface="Georgia"/>
              <a:cs typeface="Georgia"/>
              <a:sym typeface="Georgia"/>
            </a:endParaRPr>
          </a:p>
        </p:txBody>
      </p:sp>
      <p:sp>
        <p:nvSpPr>
          <p:cNvPr id="282" name="Google Shape;282;p29"/>
          <p:cNvSpPr txBox="1"/>
          <p:nvPr/>
        </p:nvSpPr>
        <p:spPr>
          <a:xfrm>
            <a:off x="6130216" y="1127350"/>
            <a:ext cx="1477200" cy="5334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Publication</a:t>
            </a:r>
            <a:endParaRPr sz="900">
              <a:solidFill>
                <a:schemeClr val="dk2"/>
              </a:solidFill>
              <a:latin typeface="Georgia"/>
              <a:ea typeface="Georgia"/>
              <a:cs typeface="Georgia"/>
              <a:sym typeface="Georgia"/>
            </a:endParaRPr>
          </a:p>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(NCBI BioProject, GenBank, ENA)</a:t>
            </a:r>
            <a:endParaRPr sz="900">
              <a:solidFill>
                <a:schemeClr val="dk2"/>
              </a:solidFill>
              <a:latin typeface="Georgia"/>
              <a:ea typeface="Georgia"/>
              <a:cs typeface="Georgia"/>
              <a:sym typeface="Georgia"/>
            </a:endParaRPr>
          </a:p>
        </p:txBody>
      </p:sp>
      <p:sp>
        <p:nvSpPr>
          <p:cNvPr id="283" name="Google Shape;283;p29"/>
          <p:cNvSpPr txBox="1"/>
          <p:nvPr/>
        </p:nvSpPr>
        <p:spPr>
          <a:xfrm>
            <a:off x="2091240" y="4034850"/>
            <a:ext cx="20196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Gene prediction</a:t>
            </a:r>
            <a:endParaRPr sz="900">
              <a:solidFill>
                <a:schemeClr val="dk2"/>
              </a:solidFill>
              <a:latin typeface="Georgia"/>
              <a:ea typeface="Georgia"/>
              <a:cs typeface="Georgia"/>
              <a:sym typeface="Georgia"/>
            </a:endParaRPr>
          </a:p>
          <a:p>
            <a:pPr indent="-285750" lvl="0" marL="457200" marR="0" rtl="0" algn="l">
              <a:lnSpc>
                <a:spcPct val="100000"/>
              </a:lnSpc>
              <a:spcBef>
                <a:spcPts val="0"/>
              </a:spcBef>
              <a:spcAft>
                <a:spcPts val="0"/>
              </a:spcAft>
              <a:buClr>
                <a:schemeClr val="dk2"/>
              </a:buClr>
              <a:buSzPts val="900"/>
              <a:buFont typeface="Georgia"/>
              <a:buChar char="-"/>
            </a:pPr>
            <a:r>
              <a:rPr lang="en" sz="900">
                <a:solidFill>
                  <a:schemeClr val="dk2"/>
                </a:solidFill>
                <a:latin typeface="Georgia"/>
                <a:ea typeface="Georgia"/>
                <a:cs typeface="Georgia"/>
                <a:sym typeface="Georgia"/>
              </a:rPr>
              <a:t>Ab initio (AUGUSTUS)</a:t>
            </a:r>
            <a:endParaRPr sz="900">
              <a:solidFill>
                <a:schemeClr val="dk2"/>
              </a:solidFill>
              <a:latin typeface="Georgia"/>
              <a:ea typeface="Georgia"/>
              <a:cs typeface="Georgia"/>
              <a:sym typeface="Georgia"/>
            </a:endParaRPr>
          </a:p>
          <a:p>
            <a:pPr indent="-285750" lvl="0" marL="457200" marR="0" rtl="0" algn="l">
              <a:lnSpc>
                <a:spcPct val="100000"/>
              </a:lnSpc>
              <a:spcBef>
                <a:spcPts val="0"/>
              </a:spcBef>
              <a:spcAft>
                <a:spcPts val="0"/>
              </a:spcAft>
              <a:buClr>
                <a:schemeClr val="dk2"/>
              </a:buClr>
              <a:buSzPts val="900"/>
              <a:buFont typeface="Georgia"/>
              <a:buChar char="-"/>
            </a:pPr>
            <a:r>
              <a:rPr lang="en" sz="900">
                <a:solidFill>
                  <a:schemeClr val="dk2"/>
                </a:solidFill>
                <a:latin typeface="Georgia"/>
                <a:ea typeface="Georgia"/>
                <a:cs typeface="Georgia"/>
                <a:sym typeface="Georgia"/>
              </a:rPr>
              <a:t>External evidence </a:t>
            </a:r>
            <a:endParaRPr sz="900">
              <a:solidFill>
                <a:schemeClr val="dk2"/>
              </a:solidFill>
              <a:latin typeface="Georgia"/>
              <a:ea typeface="Georgia"/>
              <a:cs typeface="Georgia"/>
              <a:sym typeface="Georgia"/>
            </a:endParaRPr>
          </a:p>
        </p:txBody>
      </p:sp>
      <p:sp>
        <p:nvSpPr>
          <p:cNvPr id="284" name="Google Shape;284;p29"/>
          <p:cNvSpPr txBox="1"/>
          <p:nvPr/>
        </p:nvSpPr>
        <p:spPr>
          <a:xfrm>
            <a:off x="4856061" y="4034850"/>
            <a:ext cx="1626600" cy="533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QC &amp; manual curation</a:t>
            </a:r>
            <a:endParaRPr sz="900">
              <a:solidFill>
                <a:schemeClr val="dk2"/>
              </a:solidFill>
              <a:latin typeface="Georgia"/>
              <a:ea typeface="Georgia"/>
              <a:cs typeface="Georgia"/>
              <a:sym typeface="Georgia"/>
            </a:endParaRPr>
          </a:p>
          <a:p>
            <a:pPr indent="0" lvl="0" marL="0" marR="0" rtl="0" algn="ctr">
              <a:lnSpc>
                <a:spcPct val="100000"/>
              </a:lnSpc>
              <a:spcBef>
                <a:spcPts val="0"/>
              </a:spcBef>
              <a:spcAft>
                <a:spcPts val="0"/>
              </a:spcAft>
              <a:buNone/>
            </a:pPr>
            <a:r>
              <a:rPr lang="en" sz="900">
                <a:solidFill>
                  <a:schemeClr val="dk2"/>
                </a:solidFill>
                <a:latin typeface="Georgia"/>
                <a:ea typeface="Georgia"/>
                <a:cs typeface="Georgia"/>
                <a:sym typeface="Georgia"/>
              </a:rPr>
              <a:t>(WebApollo)</a:t>
            </a:r>
            <a:endParaRPr sz="900">
              <a:solidFill>
                <a:schemeClr val="dk2"/>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0"/>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90" name="Google Shape;290;p30"/>
          <p:cNvSpPr txBox="1"/>
          <p:nvPr/>
        </p:nvSpPr>
        <p:spPr>
          <a:xfrm>
            <a:off x="639525" y="891275"/>
            <a:ext cx="6378300" cy="57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accent1"/>
                </a:solidFill>
                <a:latin typeface="Georgia"/>
                <a:ea typeface="Georgia"/>
                <a:cs typeface="Georgia"/>
                <a:sym typeface="Georgia"/>
              </a:rPr>
              <a:t>6.   ANNOTATION</a:t>
            </a:r>
            <a:endParaRPr b="1" sz="2400">
              <a:solidFill>
                <a:schemeClr val="accent1"/>
              </a:solidFill>
              <a:latin typeface="Georgia"/>
              <a:ea typeface="Georgia"/>
              <a:cs typeface="Georgia"/>
              <a:sym typeface="Georgia"/>
            </a:endParaRPr>
          </a:p>
        </p:txBody>
      </p:sp>
      <p:pic>
        <p:nvPicPr>
          <p:cNvPr id="291" name="Google Shape;291;p30"/>
          <p:cNvPicPr preferRelativeResize="0"/>
          <p:nvPr/>
        </p:nvPicPr>
        <p:blipFill>
          <a:blip r:embed="rId3">
            <a:alphaModFix amt="11000"/>
          </a:blip>
          <a:stretch>
            <a:fillRect/>
          </a:stretch>
        </p:blipFill>
        <p:spPr>
          <a:xfrm rot="820931">
            <a:off x="4562462" y="844835"/>
            <a:ext cx="3554127" cy="3554127"/>
          </a:xfrm>
          <a:prstGeom prst="rect">
            <a:avLst/>
          </a:prstGeom>
          <a:noFill/>
          <a:ln>
            <a:noFill/>
          </a:ln>
          <a:effectLst>
            <a:outerShdw blurRad="57150" rotWithShape="0" algn="bl" dir="5400000" dist="19050">
              <a:srgbClr val="FF0000">
                <a:alpha val="50000"/>
              </a:srgbClr>
            </a:outerShdw>
          </a:effectLst>
        </p:spPr>
      </p:pic>
      <p:sp>
        <p:nvSpPr>
          <p:cNvPr id="292" name="Google Shape;292;p30"/>
          <p:cNvSpPr txBox="1"/>
          <p:nvPr/>
        </p:nvSpPr>
        <p:spPr>
          <a:xfrm>
            <a:off x="1208775" y="1718325"/>
            <a:ext cx="6829200" cy="249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t> </a:t>
            </a:r>
            <a:r>
              <a:rPr lang="en" sz="1100">
                <a:latin typeface="Georgia"/>
                <a:ea typeface="Georgia"/>
                <a:cs typeface="Georgia"/>
                <a:sym typeface="Georgia"/>
              </a:rPr>
              <a:t>Genome assembly must be </a:t>
            </a:r>
            <a:r>
              <a:rPr b="1" lang="en" sz="1100">
                <a:latin typeface="Georgia"/>
                <a:ea typeface="Georgia"/>
                <a:cs typeface="Georgia"/>
                <a:sym typeface="Georgia"/>
              </a:rPr>
              <a:t>repeatable and reproducible</a:t>
            </a:r>
            <a:r>
              <a:rPr lang="en" sz="1100">
                <a:latin typeface="Georgia"/>
                <a:ea typeface="Georgia"/>
                <a:cs typeface="Georgia"/>
                <a:sym typeface="Georgia"/>
              </a:rPr>
              <a:t>. To ensure this, we use:</a:t>
            </a:r>
            <a:endParaRPr sz="1100">
              <a:latin typeface="Georgia"/>
              <a:ea typeface="Georgia"/>
              <a:cs typeface="Georgia"/>
              <a:sym typeface="Georgia"/>
            </a:endParaRPr>
          </a:p>
          <a:p>
            <a:pPr indent="-298450" lvl="0" marL="457200" rtl="0" algn="l">
              <a:lnSpc>
                <a:spcPct val="115000"/>
              </a:lnSpc>
              <a:spcBef>
                <a:spcPts val="1200"/>
              </a:spcBef>
              <a:spcAft>
                <a:spcPts val="0"/>
              </a:spcAft>
              <a:buSzPts val="1100"/>
              <a:buChar char="●"/>
            </a:pPr>
            <a:r>
              <a:rPr b="1" lang="en" sz="1100">
                <a:latin typeface="Georgia"/>
                <a:ea typeface="Georgia"/>
                <a:cs typeface="Georgia"/>
                <a:sym typeface="Georgia"/>
              </a:rPr>
              <a:t>Containers</a:t>
            </a:r>
            <a:r>
              <a:rPr lang="en" sz="1100">
                <a:latin typeface="Georgia"/>
                <a:ea typeface="Georgia"/>
                <a:cs typeface="Georgia"/>
                <a:sym typeface="Georgia"/>
              </a:rPr>
              <a:t> like Docker or Singularity, which guarantee identical software environments.</a:t>
            </a:r>
            <a:br>
              <a:rPr lang="en" sz="1100">
                <a:latin typeface="Georgia"/>
                <a:ea typeface="Georgia"/>
                <a:cs typeface="Georgia"/>
                <a:sym typeface="Georgia"/>
              </a:rPr>
            </a:br>
            <a:endParaRPr sz="100">
              <a:latin typeface="Georgia"/>
              <a:ea typeface="Georgia"/>
              <a:cs typeface="Georgia"/>
              <a:sym typeface="Georgia"/>
            </a:endParaRPr>
          </a:p>
          <a:p>
            <a:pPr indent="-298450" lvl="0" marL="457200" rtl="0" algn="l">
              <a:lnSpc>
                <a:spcPct val="115000"/>
              </a:lnSpc>
              <a:spcBef>
                <a:spcPts val="0"/>
              </a:spcBef>
              <a:spcAft>
                <a:spcPts val="0"/>
              </a:spcAft>
              <a:buSzPts val="1100"/>
              <a:buChar char="●"/>
            </a:pPr>
            <a:r>
              <a:rPr b="1" lang="en" sz="1100">
                <a:latin typeface="Georgia"/>
                <a:ea typeface="Georgia"/>
                <a:cs typeface="Georgia"/>
                <a:sym typeface="Georgia"/>
              </a:rPr>
              <a:t>Workflow managers</a:t>
            </a:r>
            <a:r>
              <a:rPr lang="en" sz="1100">
                <a:latin typeface="Georgia"/>
                <a:ea typeface="Georgia"/>
                <a:cs typeface="Georgia"/>
                <a:sym typeface="Georgia"/>
              </a:rPr>
              <a:t> like Nextflow or Snakemake for automated, traceable pipelines.</a:t>
            </a:r>
            <a:br>
              <a:rPr lang="en" sz="1100">
                <a:latin typeface="Georgia"/>
                <a:ea typeface="Georgia"/>
                <a:cs typeface="Georgia"/>
                <a:sym typeface="Georgia"/>
              </a:rPr>
            </a:br>
            <a:endParaRPr sz="100">
              <a:latin typeface="Georgia"/>
              <a:ea typeface="Georgia"/>
              <a:cs typeface="Georgia"/>
              <a:sym typeface="Georgia"/>
            </a:endParaRPr>
          </a:p>
          <a:p>
            <a:pPr indent="-298450" lvl="0" marL="457200" rtl="0" algn="l">
              <a:lnSpc>
                <a:spcPct val="115000"/>
              </a:lnSpc>
              <a:spcBef>
                <a:spcPts val="0"/>
              </a:spcBef>
              <a:spcAft>
                <a:spcPts val="0"/>
              </a:spcAft>
              <a:buSzPts val="1100"/>
              <a:buChar char="●"/>
            </a:pPr>
            <a:r>
              <a:rPr b="1" lang="en" sz="1100">
                <a:latin typeface="Georgia"/>
                <a:ea typeface="Georgia"/>
                <a:cs typeface="Georgia"/>
                <a:sym typeface="Georgia"/>
              </a:rPr>
              <a:t>FAIR principles</a:t>
            </a:r>
            <a:r>
              <a:rPr lang="en" sz="1100">
                <a:latin typeface="Georgia"/>
                <a:ea typeface="Georgia"/>
                <a:cs typeface="Georgia"/>
                <a:sym typeface="Georgia"/>
              </a:rPr>
              <a:t>: making data and software Findable, Accessible, Interoperable, and Reusable.</a:t>
            </a:r>
            <a:endParaRPr sz="1100">
              <a:latin typeface="Georgia"/>
              <a:ea typeface="Georgia"/>
              <a:cs typeface="Georgia"/>
              <a:sym typeface="Georgia"/>
            </a:endParaRPr>
          </a:p>
          <a:p>
            <a:pPr indent="0" lvl="0" marL="0" rtl="0" algn="l">
              <a:lnSpc>
                <a:spcPct val="115000"/>
              </a:lnSpc>
              <a:spcBef>
                <a:spcPts val="1200"/>
              </a:spcBef>
              <a:spcAft>
                <a:spcPts val="0"/>
              </a:spcAft>
              <a:buNone/>
            </a:pPr>
            <a:r>
              <a:t/>
            </a:r>
            <a:endParaRPr sz="1100">
              <a:latin typeface="Georgia"/>
              <a:ea typeface="Georgia"/>
              <a:cs typeface="Georgia"/>
              <a:sym typeface="Georgia"/>
            </a:endParaRPr>
          </a:p>
          <a:p>
            <a:pPr indent="0" lvl="0" marL="0" rtl="0" algn="l">
              <a:lnSpc>
                <a:spcPct val="100000"/>
              </a:lnSpc>
              <a:spcBef>
                <a:spcPts val="1200"/>
              </a:spcBef>
              <a:spcAft>
                <a:spcPts val="0"/>
              </a:spcAft>
              <a:buNone/>
            </a:pPr>
            <a:r>
              <a:rPr b="1" lang="en" sz="1100">
                <a:solidFill>
                  <a:schemeClr val="accent1"/>
                </a:solidFill>
                <a:latin typeface="Georgia"/>
                <a:ea typeface="Georgia"/>
                <a:cs typeface="Georgia"/>
                <a:sym typeface="Georgia"/>
              </a:rPr>
              <a:t>Functional annotation →</a:t>
            </a:r>
            <a:r>
              <a:rPr lang="en" sz="1100">
                <a:latin typeface="Georgia"/>
                <a:ea typeface="Georgia"/>
                <a:cs typeface="Georgia"/>
                <a:sym typeface="Georgia"/>
              </a:rPr>
              <a:t> </a:t>
            </a:r>
            <a:r>
              <a:rPr lang="en" sz="1100">
                <a:latin typeface="Georgia"/>
                <a:ea typeface="Georgia"/>
                <a:cs typeface="Georgia"/>
                <a:sym typeface="Georgia"/>
              </a:rPr>
              <a:t>assign</a:t>
            </a:r>
            <a:r>
              <a:rPr lang="en" sz="1100">
                <a:latin typeface="Georgia"/>
                <a:ea typeface="Georgia"/>
                <a:cs typeface="Georgia"/>
                <a:sym typeface="Georgia"/>
              </a:rPr>
              <a:t> </a:t>
            </a:r>
            <a:r>
              <a:rPr lang="en" sz="1100">
                <a:latin typeface="Georgia"/>
                <a:ea typeface="Georgia"/>
                <a:cs typeface="Georgia"/>
                <a:sym typeface="Georgia"/>
              </a:rPr>
              <a:t>biologically relevant information to predicted polypeptides</a:t>
            </a:r>
            <a:endParaRPr sz="1100">
              <a:latin typeface="Georgia"/>
              <a:ea typeface="Georgia"/>
              <a:cs typeface="Georgia"/>
              <a:sym typeface="Georgia"/>
            </a:endParaRPr>
          </a:p>
          <a:p>
            <a:pPr indent="0" lvl="0" marL="0" rtl="0" algn="l">
              <a:lnSpc>
                <a:spcPct val="100000"/>
              </a:lnSpc>
              <a:spcBef>
                <a:spcPts val="1200"/>
              </a:spcBef>
              <a:spcAft>
                <a:spcPts val="1200"/>
              </a:spcAft>
              <a:buNone/>
            </a:pPr>
            <a:r>
              <a:rPr i="1" lang="en" sz="1100">
                <a:latin typeface="Georgia"/>
                <a:ea typeface="Georgia"/>
                <a:cs typeface="Georgia"/>
                <a:sym typeface="Georgia"/>
              </a:rPr>
              <a:t>	GO terms, names, pathways, tools like InterProScan or eggNOG-mapper, MAKER, BRAKER</a:t>
            </a:r>
            <a:endParaRPr i="1" sz="1100">
              <a:latin typeface="Georgia"/>
              <a:ea typeface="Georgia"/>
              <a:cs typeface="Georgia"/>
              <a:sym typeface="Georg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1"/>
          <p:cNvSpPr txBox="1"/>
          <p:nvPr>
            <p:ph type="ctrTitle"/>
          </p:nvPr>
        </p:nvSpPr>
        <p:spPr>
          <a:xfrm>
            <a:off x="533400" y="3372150"/>
            <a:ext cx="7145700" cy="7389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b="1" lang="en">
                <a:solidFill>
                  <a:srgbClr val="111111"/>
                </a:solidFill>
              </a:rPr>
              <a:t> 5. </a:t>
            </a:r>
            <a:r>
              <a:rPr lang="en"/>
              <a:t>Future work</a:t>
            </a:r>
            <a:endParaRPr/>
          </a:p>
        </p:txBody>
      </p:sp>
      <p:sp>
        <p:nvSpPr>
          <p:cNvPr id="298" name="Google Shape;298;p31"/>
          <p:cNvSpPr txBox="1"/>
          <p:nvPr>
            <p:ph idx="12" type="sldNum"/>
          </p:nvPr>
        </p:nvSpPr>
        <p:spPr>
          <a:xfrm>
            <a:off x="533409" y="471791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2"/>
          <p:cNvSpPr txBox="1"/>
          <p:nvPr>
            <p:ph type="title"/>
          </p:nvPr>
        </p:nvSpPr>
        <p:spPr>
          <a:xfrm>
            <a:off x="533400" y="552450"/>
            <a:ext cx="210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FUTURE</a:t>
            </a:r>
            <a:endParaRPr/>
          </a:p>
        </p:txBody>
      </p:sp>
      <p:sp>
        <p:nvSpPr>
          <p:cNvPr id="304" name="Google Shape;304;p32"/>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05" name="Google Shape;305;p32"/>
          <p:cNvSpPr/>
          <p:nvPr/>
        </p:nvSpPr>
        <p:spPr>
          <a:xfrm>
            <a:off x="1534200" y="1681074"/>
            <a:ext cx="3291300" cy="1239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1371600" wrap="square" tIns="91425">
            <a:noAutofit/>
          </a:bodyPr>
          <a:lstStyle/>
          <a:p>
            <a:pPr indent="0" lvl="0" marL="0" rtl="0" algn="l">
              <a:spcBef>
                <a:spcPts val="0"/>
              </a:spcBef>
              <a:spcAft>
                <a:spcPts val="0"/>
              </a:spcAft>
              <a:buNone/>
            </a:pPr>
            <a:r>
              <a:rPr b="1" lang="en">
                <a:solidFill>
                  <a:schemeClr val="dk1"/>
                </a:solidFill>
                <a:latin typeface="Georgia"/>
                <a:ea typeface="Georgia"/>
                <a:cs typeface="Georgia"/>
                <a:sym typeface="Georgia"/>
              </a:rPr>
              <a:t>STRENGTHS</a:t>
            </a:r>
            <a:endParaRPr b="1">
              <a:solidFill>
                <a:schemeClr val="dk1"/>
              </a:solidFill>
              <a:latin typeface="Georgia"/>
              <a:ea typeface="Georgia"/>
              <a:cs typeface="Georgia"/>
              <a:sym typeface="Georgia"/>
            </a:endParaRPr>
          </a:p>
          <a:p>
            <a:pPr indent="0" lvl="0" marL="0" rtl="0" algn="l">
              <a:spcBef>
                <a:spcPts val="600"/>
              </a:spcBef>
              <a:spcAft>
                <a:spcPts val="600"/>
              </a:spcAft>
              <a:buNone/>
            </a:pPr>
            <a:r>
              <a:t/>
            </a:r>
            <a:endParaRPr>
              <a:solidFill>
                <a:schemeClr val="dk1"/>
              </a:solidFill>
              <a:latin typeface="Georgia"/>
              <a:ea typeface="Georgia"/>
              <a:cs typeface="Georgia"/>
              <a:sym typeface="Georgia"/>
            </a:endParaRPr>
          </a:p>
        </p:txBody>
      </p:sp>
      <p:sp>
        <p:nvSpPr>
          <p:cNvPr id="306" name="Google Shape;306;p32"/>
          <p:cNvSpPr/>
          <p:nvPr/>
        </p:nvSpPr>
        <p:spPr>
          <a:xfrm>
            <a:off x="4961769" y="1681074"/>
            <a:ext cx="3291300" cy="1239900"/>
          </a:xfrm>
          <a:prstGeom prst="rect">
            <a:avLst/>
          </a:prstGeom>
          <a:noFill/>
          <a:ln cap="flat" cmpd="sng" w="9525">
            <a:solidFill>
              <a:schemeClr val="lt1"/>
            </a:solidFill>
            <a:prstDash val="solid"/>
            <a:round/>
            <a:headEnd len="sm" w="sm" type="none"/>
            <a:tailEnd len="sm" w="sm" type="none"/>
          </a:ln>
        </p:spPr>
        <p:txBody>
          <a:bodyPr anchorCtr="0" anchor="t" bIns="91425" lIns="1371600" spcFirstLastPara="1" rIns="91425" wrap="square" tIns="91425">
            <a:noAutofit/>
          </a:bodyPr>
          <a:lstStyle/>
          <a:p>
            <a:pPr indent="0" lvl="0" marL="0" rtl="0" algn="r">
              <a:spcBef>
                <a:spcPts val="0"/>
              </a:spcBef>
              <a:spcAft>
                <a:spcPts val="0"/>
              </a:spcAft>
              <a:buClr>
                <a:schemeClr val="dk1"/>
              </a:buClr>
              <a:buSzPts val="1100"/>
              <a:buFont typeface="Arial"/>
              <a:buNone/>
            </a:pPr>
            <a:r>
              <a:rPr b="1" lang="en">
                <a:solidFill>
                  <a:schemeClr val="dk1"/>
                </a:solidFill>
                <a:latin typeface="Georgia"/>
                <a:ea typeface="Georgia"/>
                <a:cs typeface="Georgia"/>
                <a:sym typeface="Georgia"/>
              </a:rPr>
              <a:t>WEAKNESSES</a:t>
            </a:r>
            <a:endParaRPr b="1">
              <a:solidFill>
                <a:schemeClr val="dk1"/>
              </a:solidFill>
              <a:latin typeface="Georgia"/>
              <a:ea typeface="Georgia"/>
              <a:cs typeface="Georgia"/>
              <a:sym typeface="Georgia"/>
            </a:endParaRPr>
          </a:p>
          <a:p>
            <a:pPr indent="0" lvl="0" marL="0" rtl="0" algn="r">
              <a:spcBef>
                <a:spcPts val="600"/>
              </a:spcBef>
              <a:spcAft>
                <a:spcPts val="600"/>
              </a:spcAft>
              <a:buNone/>
            </a:pPr>
            <a:r>
              <a:t/>
            </a:r>
            <a:endParaRPr>
              <a:solidFill>
                <a:schemeClr val="dk1"/>
              </a:solidFill>
              <a:latin typeface="Georgia"/>
              <a:ea typeface="Georgia"/>
              <a:cs typeface="Georgia"/>
              <a:sym typeface="Georgia"/>
            </a:endParaRPr>
          </a:p>
        </p:txBody>
      </p:sp>
      <p:sp>
        <p:nvSpPr>
          <p:cNvPr id="307" name="Google Shape;307;p32"/>
          <p:cNvSpPr/>
          <p:nvPr/>
        </p:nvSpPr>
        <p:spPr>
          <a:xfrm>
            <a:off x="1534200" y="3057085"/>
            <a:ext cx="3291300" cy="1239900"/>
          </a:xfrm>
          <a:prstGeom prst="rect">
            <a:avLst/>
          </a:prstGeom>
          <a:noFill/>
          <a:ln cap="flat" cmpd="sng" w="9525">
            <a:solidFill>
              <a:schemeClr val="lt1"/>
            </a:solidFill>
            <a:prstDash val="solid"/>
            <a:round/>
            <a:headEnd len="sm" w="sm" type="none"/>
            <a:tailEnd len="sm" w="sm" type="none"/>
          </a:ln>
        </p:spPr>
        <p:txBody>
          <a:bodyPr anchorCtr="0" anchor="b" bIns="91425" lIns="91425" spcFirstLastPara="1" rIns="1371600" wrap="square" tIns="91425">
            <a:noAutofit/>
          </a:bodyPr>
          <a:lstStyle/>
          <a:p>
            <a:pPr indent="0" lvl="0" marL="0" rtl="0" algn="l">
              <a:spcBef>
                <a:spcPts val="0"/>
              </a:spcBef>
              <a:spcAft>
                <a:spcPts val="0"/>
              </a:spcAft>
              <a:buClr>
                <a:schemeClr val="dk1"/>
              </a:buClr>
              <a:buSzPts val="1100"/>
              <a:buFont typeface="Arial"/>
              <a:buNone/>
            </a:pPr>
            <a:r>
              <a:t/>
            </a:r>
            <a:endParaRPr b="1">
              <a:solidFill>
                <a:schemeClr val="dk1"/>
              </a:solidFill>
              <a:latin typeface="Georgia"/>
              <a:ea typeface="Georgia"/>
              <a:cs typeface="Georgia"/>
              <a:sym typeface="Georgia"/>
            </a:endParaRPr>
          </a:p>
          <a:p>
            <a:pPr indent="0" lvl="0" marL="0" rtl="0" algn="l">
              <a:spcBef>
                <a:spcPts val="600"/>
              </a:spcBef>
              <a:spcAft>
                <a:spcPts val="600"/>
              </a:spcAft>
              <a:buClr>
                <a:schemeClr val="dk1"/>
              </a:buClr>
              <a:buSzPts val="1100"/>
              <a:buFont typeface="Arial"/>
              <a:buNone/>
            </a:pPr>
            <a:r>
              <a:rPr b="1" lang="en">
                <a:solidFill>
                  <a:schemeClr val="dk1"/>
                </a:solidFill>
                <a:latin typeface="Georgia"/>
                <a:ea typeface="Georgia"/>
                <a:cs typeface="Georgia"/>
                <a:sym typeface="Georgia"/>
              </a:rPr>
              <a:t>IMPROVEMENTS</a:t>
            </a:r>
            <a:endParaRPr>
              <a:solidFill>
                <a:schemeClr val="dk1"/>
              </a:solidFill>
              <a:latin typeface="Georgia"/>
              <a:ea typeface="Georgia"/>
              <a:cs typeface="Georgia"/>
              <a:sym typeface="Georgia"/>
            </a:endParaRPr>
          </a:p>
        </p:txBody>
      </p:sp>
      <p:sp>
        <p:nvSpPr>
          <p:cNvPr id="308" name="Google Shape;308;p32"/>
          <p:cNvSpPr/>
          <p:nvPr/>
        </p:nvSpPr>
        <p:spPr>
          <a:xfrm>
            <a:off x="3880789" y="1974499"/>
            <a:ext cx="1891500" cy="1891500"/>
          </a:xfrm>
          <a:prstGeom prst="pie">
            <a:avLst>
              <a:gd fmla="val 10788866" name="adj1"/>
              <a:gd fmla="val 16200000" name="adj2"/>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2"/>
          <p:cNvSpPr/>
          <p:nvPr/>
        </p:nvSpPr>
        <p:spPr>
          <a:xfrm rot="5400000">
            <a:off x="4017014" y="1974499"/>
            <a:ext cx="1891500" cy="1891500"/>
          </a:xfrm>
          <a:prstGeom prst="pie">
            <a:avLst>
              <a:gd fmla="val 10788866" name="adj1"/>
              <a:gd fmla="val 1620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2"/>
          <p:cNvSpPr/>
          <p:nvPr/>
        </p:nvSpPr>
        <p:spPr>
          <a:xfrm rot="10800000">
            <a:off x="4017014" y="2111779"/>
            <a:ext cx="1891500" cy="1891500"/>
          </a:xfrm>
          <a:prstGeom prst="pie">
            <a:avLst>
              <a:gd fmla="val 10788866" name="adj1"/>
              <a:gd fmla="val 16200000" name="adj2"/>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434343"/>
              </a:highlight>
            </a:endParaRPr>
          </a:p>
        </p:txBody>
      </p:sp>
      <p:sp>
        <p:nvSpPr>
          <p:cNvPr id="311" name="Google Shape;311;p32"/>
          <p:cNvSpPr/>
          <p:nvPr/>
        </p:nvSpPr>
        <p:spPr>
          <a:xfrm rot="-5400000">
            <a:off x="3880789" y="2111779"/>
            <a:ext cx="1891500" cy="1891500"/>
          </a:xfrm>
          <a:prstGeom prst="pie">
            <a:avLst>
              <a:gd fmla="val 10788866" name="adj1"/>
              <a:gd fmla="val 1620000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
          <p:cNvSpPr/>
          <p:nvPr/>
        </p:nvSpPr>
        <p:spPr>
          <a:xfrm>
            <a:off x="4316229" y="2369023"/>
            <a:ext cx="257588" cy="353269"/>
          </a:xfrm>
          <a:prstGeom prst="rect">
            <a:avLst/>
          </a:prstGeom>
        </p:spPr>
        <p:txBody>
          <a:bodyPr>
            <a:prstTxWarp prst="textPlain"/>
          </a:bodyPr>
          <a:lstStyle/>
          <a:p>
            <a:pPr lvl="0" algn="ctr"/>
            <a:r>
              <a:rPr b="1" i="0">
                <a:ln>
                  <a:noFill/>
                </a:ln>
                <a:solidFill>
                  <a:schemeClr val="lt1"/>
                </a:solidFill>
                <a:latin typeface="Roboto Slab"/>
              </a:rPr>
              <a:t>S</a:t>
            </a:r>
          </a:p>
        </p:txBody>
      </p:sp>
      <p:sp>
        <p:nvSpPr>
          <p:cNvPr id="313" name="Google Shape;313;p32"/>
          <p:cNvSpPr/>
          <p:nvPr/>
        </p:nvSpPr>
        <p:spPr>
          <a:xfrm>
            <a:off x="5110948" y="2375063"/>
            <a:ext cx="503578" cy="343603"/>
          </a:xfrm>
          <a:prstGeom prst="rect">
            <a:avLst/>
          </a:prstGeom>
        </p:spPr>
        <p:txBody>
          <a:bodyPr>
            <a:prstTxWarp prst="textPlain"/>
          </a:bodyPr>
          <a:lstStyle/>
          <a:p>
            <a:pPr lvl="0" algn="ctr"/>
            <a:r>
              <a:rPr b="1" i="0">
                <a:ln>
                  <a:noFill/>
                </a:ln>
                <a:solidFill>
                  <a:schemeClr val="lt1"/>
                </a:solidFill>
                <a:latin typeface="Roboto Slab"/>
              </a:rPr>
              <a:t>W</a:t>
            </a:r>
          </a:p>
        </p:txBody>
      </p:sp>
      <p:sp>
        <p:nvSpPr>
          <p:cNvPr id="314" name="Google Shape;314;p32"/>
          <p:cNvSpPr/>
          <p:nvPr/>
        </p:nvSpPr>
        <p:spPr>
          <a:xfrm>
            <a:off x="4289165" y="3234752"/>
            <a:ext cx="142084" cy="343603"/>
          </a:xfrm>
          <a:prstGeom prst="rect">
            <a:avLst/>
          </a:prstGeom>
        </p:spPr>
        <p:txBody>
          <a:bodyPr>
            <a:prstTxWarp prst="textPlain"/>
          </a:bodyPr>
          <a:lstStyle/>
          <a:p>
            <a:pPr lvl="0" algn="ctr"/>
            <a:r>
              <a:rPr b="1" i="0">
                <a:ln>
                  <a:noFill/>
                </a:ln>
                <a:solidFill>
                  <a:schemeClr val="lt1"/>
                </a:solidFill>
                <a:latin typeface="Roboto Slab"/>
              </a:rPr>
              <a:t>I</a:t>
            </a:r>
          </a:p>
        </p:txBody>
      </p:sp>
      <p:sp>
        <p:nvSpPr>
          <p:cNvPr id="315" name="Google Shape;315;p32"/>
          <p:cNvSpPr/>
          <p:nvPr/>
        </p:nvSpPr>
        <p:spPr>
          <a:xfrm>
            <a:off x="4961769" y="3057074"/>
            <a:ext cx="3291300" cy="1239900"/>
          </a:xfrm>
          <a:prstGeom prst="rect">
            <a:avLst/>
          </a:prstGeom>
          <a:noFill/>
          <a:ln cap="flat" cmpd="sng" w="9525">
            <a:solidFill>
              <a:schemeClr val="lt1"/>
            </a:solidFill>
            <a:prstDash val="solid"/>
            <a:round/>
            <a:headEnd len="sm" w="sm" type="none"/>
            <a:tailEnd len="sm" w="sm" type="none"/>
          </a:ln>
        </p:spPr>
        <p:txBody>
          <a:bodyPr anchorCtr="0" anchor="t" bIns="91425" lIns="1371600" spcFirstLastPara="1" rIns="91425" wrap="square" tIns="91425">
            <a:noAutofit/>
          </a:bodyPr>
          <a:lstStyle/>
          <a:p>
            <a:pPr indent="0" lvl="0" marL="0" rtl="0" algn="l">
              <a:spcBef>
                <a:spcPts val="0"/>
              </a:spcBef>
              <a:spcAft>
                <a:spcPts val="0"/>
              </a:spcAft>
              <a:buNone/>
            </a:pPr>
            <a:r>
              <a:t/>
            </a:r>
            <a:endParaRPr b="1">
              <a:solidFill>
                <a:schemeClr val="dk1"/>
              </a:solidFill>
              <a:latin typeface="Georgia"/>
              <a:ea typeface="Georgia"/>
              <a:cs typeface="Georgia"/>
              <a:sym typeface="Georgia"/>
            </a:endParaRPr>
          </a:p>
          <a:p>
            <a:pPr indent="0" lvl="0" marL="0" rtl="0" algn="l">
              <a:spcBef>
                <a:spcPts val="600"/>
              </a:spcBef>
              <a:spcAft>
                <a:spcPts val="0"/>
              </a:spcAft>
              <a:buNone/>
            </a:pPr>
            <a:r>
              <a:t/>
            </a:r>
            <a:endParaRPr b="1">
              <a:solidFill>
                <a:schemeClr val="dk1"/>
              </a:solidFill>
              <a:latin typeface="Georgia"/>
              <a:ea typeface="Georgia"/>
              <a:cs typeface="Georgia"/>
              <a:sym typeface="Georgia"/>
            </a:endParaRPr>
          </a:p>
          <a:p>
            <a:pPr indent="0" lvl="0" marL="0" rtl="0" algn="l">
              <a:spcBef>
                <a:spcPts val="600"/>
              </a:spcBef>
              <a:spcAft>
                <a:spcPts val="0"/>
              </a:spcAft>
              <a:buNone/>
            </a:pPr>
            <a:r>
              <a:t/>
            </a:r>
            <a:endParaRPr b="1">
              <a:solidFill>
                <a:schemeClr val="dk1"/>
              </a:solidFill>
              <a:latin typeface="Georgia"/>
              <a:ea typeface="Georgia"/>
              <a:cs typeface="Georgia"/>
              <a:sym typeface="Georgia"/>
            </a:endParaRPr>
          </a:p>
          <a:p>
            <a:pPr indent="0" lvl="0" marL="0" rtl="0" algn="l">
              <a:spcBef>
                <a:spcPts val="600"/>
              </a:spcBef>
              <a:spcAft>
                <a:spcPts val="600"/>
              </a:spcAft>
              <a:buClr>
                <a:schemeClr val="dk1"/>
              </a:buClr>
              <a:buSzPts val="1100"/>
              <a:buFont typeface="Arial"/>
              <a:buNone/>
            </a:pPr>
            <a:r>
              <a:rPr b="1" lang="en">
                <a:solidFill>
                  <a:schemeClr val="dk1"/>
                </a:solidFill>
                <a:latin typeface="Georgia"/>
                <a:ea typeface="Georgia"/>
                <a:cs typeface="Georgia"/>
                <a:sym typeface="Georgia"/>
              </a:rPr>
              <a:t>IMPROVEMENTS</a:t>
            </a:r>
            <a:endParaRPr>
              <a:solidFill>
                <a:schemeClr val="dk1"/>
              </a:solidFill>
              <a:latin typeface="Georgia"/>
              <a:ea typeface="Georgia"/>
              <a:cs typeface="Georgia"/>
              <a:sym typeface="Georgia"/>
            </a:endParaRPr>
          </a:p>
        </p:txBody>
      </p:sp>
      <p:sp>
        <p:nvSpPr>
          <p:cNvPr id="316" name="Google Shape;316;p32"/>
          <p:cNvSpPr txBox="1"/>
          <p:nvPr/>
        </p:nvSpPr>
        <p:spPr>
          <a:xfrm>
            <a:off x="1603325" y="2028975"/>
            <a:ext cx="2365800" cy="6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11111"/>
                </a:solidFill>
                <a:latin typeface="Georgia"/>
                <a:ea typeface="Georgia"/>
                <a:cs typeface="Georgia"/>
                <a:sym typeface="Georgia"/>
              </a:rPr>
              <a:t>- </a:t>
            </a:r>
            <a:r>
              <a:rPr lang="en" sz="1000">
                <a:solidFill>
                  <a:srgbClr val="111111"/>
                </a:solidFill>
                <a:latin typeface="Georgia"/>
                <a:ea typeface="Georgia"/>
                <a:cs typeface="Georgia"/>
                <a:sym typeface="Georgia"/>
              </a:rPr>
              <a:t>Enables reconstruction of most coding regions.</a:t>
            </a:r>
            <a:endParaRPr sz="10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lang="en" sz="1000">
                <a:solidFill>
                  <a:srgbClr val="111111"/>
                </a:solidFill>
                <a:latin typeface="Georgia"/>
                <a:ea typeface="Georgia"/>
                <a:cs typeface="Georgia"/>
                <a:sym typeface="Georgia"/>
              </a:rPr>
              <a:t>- </a:t>
            </a:r>
            <a:r>
              <a:rPr lang="en" sz="1000">
                <a:solidFill>
                  <a:srgbClr val="111111"/>
                </a:solidFill>
                <a:latin typeface="Georgia"/>
                <a:ea typeface="Georgia"/>
                <a:cs typeface="Georgia"/>
                <a:sym typeface="Georgia"/>
              </a:rPr>
              <a:t>Can handle large volumes or NGS data.</a:t>
            </a:r>
            <a:endParaRPr sz="1000">
              <a:solidFill>
                <a:srgbClr val="111111"/>
              </a:solidFill>
              <a:latin typeface="Georgia"/>
              <a:ea typeface="Georgia"/>
              <a:cs typeface="Georgia"/>
              <a:sym typeface="Georgia"/>
            </a:endParaRPr>
          </a:p>
        </p:txBody>
      </p:sp>
      <p:sp>
        <p:nvSpPr>
          <p:cNvPr id="317" name="Google Shape;317;p32"/>
          <p:cNvSpPr txBox="1"/>
          <p:nvPr/>
        </p:nvSpPr>
        <p:spPr>
          <a:xfrm>
            <a:off x="5899975" y="1923602"/>
            <a:ext cx="2365800" cy="6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11111"/>
                </a:solidFill>
                <a:latin typeface="Georgia"/>
                <a:ea typeface="Georgia"/>
                <a:cs typeface="Georgia"/>
                <a:sym typeface="Georgia"/>
              </a:rPr>
              <a:t>- </a:t>
            </a:r>
            <a:r>
              <a:rPr lang="en" sz="1000">
                <a:solidFill>
                  <a:srgbClr val="111111"/>
                </a:solidFill>
                <a:latin typeface="Georgia"/>
                <a:ea typeface="Georgia"/>
                <a:cs typeface="Georgia"/>
                <a:sym typeface="Georgia"/>
              </a:rPr>
              <a:t>Some assemblies remain fragmented.</a:t>
            </a:r>
            <a:endParaRPr sz="7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lang="en" sz="1000">
                <a:solidFill>
                  <a:srgbClr val="111111"/>
                </a:solidFill>
                <a:latin typeface="Georgia"/>
                <a:ea typeface="Georgia"/>
                <a:cs typeface="Georgia"/>
                <a:sym typeface="Georgia"/>
              </a:rPr>
              <a:t>- </a:t>
            </a:r>
            <a:r>
              <a:rPr lang="en" sz="1000">
                <a:solidFill>
                  <a:srgbClr val="111111"/>
                </a:solidFill>
                <a:latin typeface="Georgia"/>
                <a:ea typeface="Georgia"/>
                <a:cs typeface="Georgia"/>
                <a:sym typeface="Georgia"/>
              </a:rPr>
              <a:t>Dependence on coverage, sequencing quality and </a:t>
            </a:r>
            <a:r>
              <a:rPr lang="en" sz="1000">
                <a:solidFill>
                  <a:srgbClr val="111111"/>
                </a:solidFill>
                <a:latin typeface="Georgia"/>
                <a:ea typeface="Georgia"/>
                <a:cs typeface="Georgia"/>
                <a:sym typeface="Georgia"/>
              </a:rPr>
              <a:t>parameters.</a:t>
            </a:r>
            <a:endParaRPr sz="10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lang="en" sz="1000">
                <a:solidFill>
                  <a:srgbClr val="111111"/>
                </a:solidFill>
                <a:latin typeface="Georgia"/>
                <a:ea typeface="Georgia"/>
                <a:cs typeface="Georgia"/>
                <a:sym typeface="Georgia"/>
              </a:rPr>
              <a:t>- Difficult regions remain unsolved.</a:t>
            </a:r>
            <a:endParaRPr sz="1000">
              <a:solidFill>
                <a:srgbClr val="111111"/>
              </a:solidFill>
              <a:latin typeface="Georgia"/>
              <a:ea typeface="Georgia"/>
              <a:cs typeface="Georgia"/>
              <a:sym typeface="Georgia"/>
            </a:endParaRPr>
          </a:p>
        </p:txBody>
      </p:sp>
      <p:sp>
        <p:nvSpPr>
          <p:cNvPr id="318" name="Google Shape;318;p32"/>
          <p:cNvSpPr txBox="1"/>
          <p:nvPr/>
        </p:nvSpPr>
        <p:spPr>
          <a:xfrm>
            <a:off x="1603325" y="3062584"/>
            <a:ext cx="2365800" cy="6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11111"/>
                </a:solidFill>
                <a:latin typeface="Georgia"/>
                <a:ea typeface="Georgia"/>
                <a:cs typeface="Georgia"/>
                <a:sym typeface="Georgia"/>
              </a:rPr>
              <a:t>- Integrate long-read sequencing to resolve repeats.</a:t>
            </a:r>
            <a:endParaRPr sz="10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lang="en" sz="1000">
                <a:solidFill>
                  <a:srgbClr val="111111"/>
                </a:solidFill>
                <a:latin typeface="Georgia"/>
                <a:ea typeface="Georgia"/>
                <a:cs typeface="Georgia"/>
                <a:sym typeface="Georgia"/>
              </a:rPr>
              <a:t>- Alternative assemblers and post-assembly tools</a:t>
            </a:r>
            <a:endParaRPr sz="1000">
              <a:solidFill>
                <a:srgbClr val="111111"/>
              </a:solidFill>
              <a:latin typeface="Georgia"/>
              <a:ea typeface="Georgia"/>
              <a:cs typeface="Georgia"/>
              <a:sym typeface="Georgia"/>
            </a:endParaRPr>
          </a:p>
        </p:txBody>
      </p:sp>
      <p:sp>
        <p:nvSpPr>
          <p:cNvPr id="319" name="Google Shape;319;p32"/>
          <p:cNvSpPr txBox="1"/>
          <p:nvPr/>
        </p:nvSpPr>
        <p:spPr>
          <a:xfrm>
            <a:off x="5956425" y="3176309"/>
            <a:ext cx="2365800" cy="6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11111"/>
                </a:solidFill>
                <a:latin typeface="Georgia"/>
                <a:ea typeface="Georgia"/>
                <a:cs typeface="Georgia"/>
                <a:sym typeface="Georgia"/>
              </a:rPr>
              <a:t>- Optimizing parameters. </a:t>
            </a:r>
            <a:endParaRPr sz="1000">
              <a:solidFill>
                <a:srgbClr val="111111"/>
              </a:solidFill>
              <a:latin typeface="Georgia"/>
              <a:ea typeface="Georgia"/>
              <a:cs typeface="Georgia"/>
              <a:sym typeface="Georgia"/>
            </a:endParaRPr>
          </a:p>
          <a:p>
            <a:pPr indent="0" lvl="0" marL="0" rtl="0" algn="l">
              <a:spcBef>
                <a:spcPts val="0"/>
              </a:spcBef>
              <a:spcAft>
                <a:spcPts val="0"/>
              </a:spcAft>
              <a:buNone/>
            </a:pPr>
            <a:r>
              <a:t/>
            </a:r>
            <a:endParaRPr sz="700">
              <a:solidFill>
                <a:srgbClr val="111111"/>
              </a:solidFill>
              <a:latin typeface="Georgia"/>
              <a:ea typeface="Georgia"/>
              <a:cs typeface="Georgia"/>
              <a:sym typeface="Georgia"/>
            </a:endParaRPr>
          </a:p>
          <a:p>
            <a:pPr indent="0" lvl="0" marL="0" rtl="0" algn="l">
              <a:spcBef>
                <a:spcPts val="0"/>
              </a:spcBef>
              <a:spcAft>
                <a:spcPts val="0"/>
              </a:spcAft>
              <a:buNone/>
            </a:pPr>
            <a:r>
              <a:rPr lang="en" sz="1000">
                <a:solidFill>
                  <a:srgbClr val="111111"/>
                </a:solidFill>
                <a:latin typeface="Georgia"/>
                <a:ea typeface="Georgia"/>
                <a:cs typeface="Georgia"/>
                <a:sym typeface="Georgia"/>
              </a:rPr>
              <a:t>- Incorporate more </a:t>
            </a:r>
            <a:r>
              <a:rPr lang="en" sz="1000">
                <a:solidFill>
                  <a:srgbClr val="111111"/>
                </a:solidFill>
                <a:latin typeface="Georgia"/>
                <a:ea typeface="Georgia"/>
                <a:cs typeface="Georgia"/>
                <a:sym typeface="Georgia"/>
              </a:rPr>
              <a:t>rigorous</a:t>
            </a:r>
            <a:r>
              <a:rPr lang="en" sz="1000">
                <a:solidFill>
                  <a:srgbClr val="111111"/>
                </a:solidFill>
                <a:latin typeface="Georgia"/>
                <a:ea typeface="Georgia"/>
                <a:cs typeface="Georgia"/>
                <a:sym typeface="Georgia"/>
              </a:rPr>
              <a:t> QC and </a:t>
            </a:r>
            <a:r>
              <a:rPr lang="en" sz="1000">
                <a:solidFill>
                  <a:srgbClr val="111111"/>
                </a:solidFill>
                <a:latin typeface="Georgia"/>
                <a:ea typeface="Georgia"/>
                <a:cs typeface="Georgia"/>
                <a:sym typeface="Georgia"/>
              </a:rPr>
              <a:t>polishing</a:t>
            </a:r>
            <a:r>
              <a:rPr lang="en" sz="1000">
                <a:solidFill>
                  <a:srgbClr val="111111"/>
                </a:solidFill>
                <a:latin typeface="Georgia"/>
                <a:ea typeface="Georgia"/>
                <a:cs typeface="Georgia"/>
                <a:sym typeface="Georgia"/>
              </a:rPr>
              <a:t> steps.</a:t>
            </a:r>
            <a:endParaRPr sz="1000">
              <a:solidFill>
                <a:srgbClr val="111111"/>
              </a:solidFill>
              <a:latin typeface="Georgia"/>
              <a:ea typeface="Georgia"/>
              <a:cs typeface="Georgia"/>
              <a:sym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3"/>
          <p:cNvSpPr txBox="1"/>
          <p:nvPr>
            <p:ph type="title"/>
          </p:nvPr>
        </p:nvSpPr>
        <p:spPr>
          <a:xfrm>
            <a:off x="486950" y="179350"/>
            <a:ext cx="24510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BIBLIOGRAPHY</a:t>
            </a:r>
            <a:endParaRPr/>
          </a:p>
        </p:txBody>
      </p:sp>
      <p:sp>
        <p:nvSpPr>
          <p:cNvPr id="325" name="Google Shape;325;p33"/>
          <p:cNvSpPr txBox="1"/>
          <p:nvPr>
            <p:ph idx="12" type="sldNum"/>
          </p:nvPr>
        </p:nvSpPr>
        <p:spPr>
          <a:xfrm>
            <a:off x="76209" y="4698864"/>
            <a:ext cx="548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26" name="Google Shape;326;p33"/>
          <p:cNvSpPr txBox="1"/>
          <p:nvPr/>
        </p:nvSpPr>
        <p:spPr>
          <a:xfrm>
            <a:off x="1182875" y="724650"/>
            <a:ext cx="7420200" cy="3694200"/>
          </a:xfrm>
          <a:prstGeom prst="rect">
            <a:avLst/>
          </a:prstGeom>
          <a:noFill/>
          <a:ln>
            <a:noFill/>
          </a:ln>
        </p:spPr>
        <p:txBody>
          <a:bodyPr anchorCtr="0" anchor="t" bIns="91425" lIns="91425" spcFirstLastPara="1" rIns="91425" wrap="square" tIns="91425">
            <a:spAutoFit/>
          </a:bodyPr>
          <a:lstStyle/>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Severin A. Introduction to Genome Assembly [Internet]. Bioinformatics Workbook. Available a partir de:</a:t>
            </a:r>
            <a:r>
              <a:rPr lang="en" sz="600" u="sng">
                <a:solidFill>
                  <a:schemeClr val="dk1"/>
                </a:solidFill>
                <a:latin typeface="Georgia"/>
                <a:ea typeface="Georgia"/>
                <a:cs typeface="Georgia"/>
                <a:sym typeface="Georgia"/>
                <a:hlinkClick r:id="rId3">
                  <a:extLst>
                    <a:ext uri="{A12FA001-AC4F-418D-AE19-62706E023703}">
                      <ahyp:hlinkClr val="tx"/>
                    </a:ext>
                  </a:extLst>
                </a:hlinkClick>
              </a:rPr>
              <a:t>https://bioinformaticsworkbook.org/dataAnalysis/GenomeAssembly/Intro_GenomeAssembly.html#gsc.tab=0</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Babraham Bioinformatics - FastQC A Quality Control tool for High Throughput Sequence Data [Internet]. Available a partir de: </a:t>
            </a:r>
            <a:r>
              <a:rPr lang="en" sz="600" u="sng">
                <a:solidFill>
                  <a:schemeClr val="dk1"/>
                </a:solidFill>
                <a:latin typeface="Georgia"/>
                <a:ea typeface="Georgia"/>
                <a:cs typeface="Georgia"/>
                <a:sym typeface="Georgia"/>
                <a:hlinkClick r:id="rId4">
                  <a:extLst>
                    <a:ext uri="{A12FA001-AC4F-418D-AE19-62706E023703}">
                      <ahyp:hlinkClr val="tx"/>
                    </a:ext>
                  </a:extLst>
                </a:hlinkClick>
              </a:rPr>
              <a:t>https://www.bioinformatics.babraham.ac.uk/projects/fastqc/</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highlight>
                  <a:srgbClr val="FFFFFF"/>
                </a:highlight>
                <a:latin typeface="Georgia"/>
                <a:ea typeface="Georgia"/>
                <a:cs typeface="Georgia"/>
                <a:sym typeface="Georgia"/>
              </a:rPr>
              <a:t>Ekblom, R., &amp; Wolf, J. B. (2014). A field guide to whole-genome sequencing, assembly and annotation. </a:t>
            </a:r>
            <a:r>
              <a:rPr i="1" lang="en" sz="600">
                <a:solidFill>
                  <a:schemeClr val="dk1"/>
                </a:solidFill>
                <a:highlight>
                  <a:srgbClr val="FFFFFF"/>
                </a:highlight>
                <a:latin typeface="Georgia"/>
                <a:ea typeface="Georgia"/>
                <a:cs typeface="Georgia"/>
                <a:sym typeface="Georgia"/>
              </a:rPr>
              <a:t>Evolutionary applications</a:t>
            </a:r>
            <a:r>
              <a:rPr lang="en" sz="600">
                <a:solidFill>
                  <a:schemeClr val="dk1"/>
                </a:solidFill>
                <a:highlight>
                  <a:srgbClr val="FFFFFF"/>
                </a:highlight>
                <a:latin typeface="Georgia"/>
                <a:ea typeface="Georgia"/>
                <a:cs typeface="Georgia"/>
                <a:sym typeface="Georgia"/>
              </a:rPr>
              <a:t>, </a:t>
            </a:r>
            <a:r>
              <a:rPr i="1" lang="en" sz="600">
                <a:solidFill>
                  <a:schemeClr val="dk1"/>
                </a:solidFill>
                <a:highlight>
                  <a:srgbClr val="FFFFFF"/>
                </a:highlight>
                <a:latin typeface="Georgia"/>
                <a:ea typeface="Georgia"/>
                <a:cs typeface="Georgia"/>
                <a:sym typeface="Georgia"/>
              </a:rPr>
              <a:t>7</a:t>
            </a:r>
            <a:r>
              <a:rPr lang="en" sz="600">
                <a:solidFill>
                  <a:schemeClr val="dk1"/>
                </a:solidFill>
                <a:highlight>
                  <a:srgbClr val="FFFFFF"/>
                </a:highlight>
                <a:latin typeface="Georgia"/>
                <a:ea typeface="Georgia"/>
                <a:cs typeface="Georgia"/>
                <a:sym typeface="Georgia"/>
              </a:rPr>
              <a:t>(9), 1026–1042. </a:t>
            </a:r>
            <a:r>
              <a:rPr lang="en" sz="600" u="sng">
                <a:solidFill>
                  <a:schemeClr val="dk1"/>
                </a:solidFill>
                <a:highlight>
                  <a:srgbClr val="FFFFFF"/>
                </a:highlight>
                <a:latin typeface="Georgia"/>
                <a:ea typeface="Georgia"/>
                <a:cs typeface="Georgia"/>
                <a:sym typeface="Georgia"/>
                <a:hlinkClick r:id="rId5">
                  <a:extLst>
                    <a:ext uri="{A12FA001-AC4F-418D-AE19-62706E023703}">
                      <ahyp:hlinkClr val="tx"/>
                    </a:ext>
                  </a:extLst>
                </a:hlinkClick>
              </a:rPr>
              <a:t>https://doi.org/10.1111/eva.12178</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Del Angel VD, Hjerde E, Sterck L, Capella-Gutierrez S, Notredame C, Pettersson OV, Amselem J, Bouri L, Bocs S, Klopp C, Gibrat JF, Vlasova A, Leskosek BL, Soler L, Binzer-Panchal M, Lantz H. Ten steps to get started in Genome Assembly and Annotation. F1000Research [Internet]. 2018 feb 5;7:148. Available a partir de: </a:t>
            </a:r>
            <a:r>
              <a:rPr lang="en" sz="600" u="sng">
                <a:solidFill>
                  <a:schemeClr val="dk1"/>
                </a:solidFill>
                <a:latin typeface="Georgia"/>
                <a:ea typeface="Georgia"/>
                <a:cs typeface="Georgia"/>
                <a:sym typeface="Georgia"/>
                <a:hlinkClick r:id="rId6">
                  <a:extLst>
                    <a:ext uri="{A12FA001-AC4F-418D-AE19-62706E023703}">
                      <ahyp:hlinkClr val="tx"/>
                    </a:ext>
                  </a:extLst>
                </a:hlinkClick>
              </a:rPr>
              <a:t>https://pmc.ncbi.nlm.nih.gov/articles/PMC5850084/</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Genome Assembly in Bioinformatics: Definition, Methods and Case [Internet]. CD Genomics. Available a partir de:	</a:t>
            </a:r>
            <a:r>
              <a:rPr lang="en" sz="600" u="sng">
                <a:solidFill>
                  <a:schemeClr val="dk1"/>
                </a:solidFill>
                <a:latin typeface="Georgia"/>
                <a:ea typeface="Georgia"/>
                <a:cs typeface="Georgia"/>
                <a:sym typeface="Georgia"/>
                <a:hlinkClick r:id="rId7">
                  <a:extLst>
                    <a:ext uri="{A12FA001-AC4F-418D-AE19-62706E023703}">
                      <ahyp:hlinkClr val="tx"/>
                    </a:ext>
                  </a:extLst>
                </a:hlinkClick>
              </a:rPr>
              <a:t>https://www.cd-genomics.com/resource-genome-assembly-bioinformatics-definition-methods-case.html</a:t>
            </a:r>
            <a:r>
              <a:rPr lang="en" sz="600">
                <a:solidFill>
                  <a:schemeClr val="dk1"/>
                </a:solidFill>
                <a:latin typeface="Georgia"/>
                <a:ea typeface="Georgia"/>
                <a:cs typeface="Georgia"/>
                <a:sym typeface="Georgia"/>
              </a:rPr>
              <a:t>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Ekblom R, Wolf JBW. A field guide to whole‐genome sequencing, assembly and annotation. Evolutionary Applications [Internet]. 2014 jun 24;7(9):1026-1042. Available a partir de: </a:t>
            </a:r>
            <a:r>
              <a:rPr lang="en" sz="600" u="sng">
                <a:solidFill>
                  <a:schemeClr val="dk1"/>
                </a:solidFill>
                <a:latin typeface="Georgia"/>
                <a:ea typeface="Georgia"/>
                <a:cs typeface="Georgia"/>
                <a:sym typeface="Georgia"/>
                <a:hlinkClick r:id="rId8">
                  <a:extLst>
                    <a:ext uri="{A12FA001-AC4F-418D-AE19-62706E023703}">
                      <ahyp:hlinkClr val="tx"/>
                    </a:ext>
                  </a:extLst>
                </a:hlinkClick>
              </a:rPr>
              <a:t>https://pmc.ncbi.nlm.nih.gov/articles/PMC4231593/</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Amatore Z, Gunn S, Harris LK. An Educational Bioinformatics Project to Improve Genome Annotation. Frontiers In Microbiology [Internet]. 2020 dic 7;11:577497. Available a partir de: </a:t>
            </a:r>
            <a:r>
              <a:rPr lang="en" sz="600" u="sng">
                <a:solidFill>
                  <a:schemeClr val="dk1"/>
                </a:solidFill>
                <a:latin typeface="Georgia"/>
                <a:ea typeface="Georgia"/>
                <a:cs typeface="Georgia"/>
                <a:sym typeface="Georgia"/>
                <a:hlinkClick r:id="rId9">
                  <a:extLst>
                    <a:ext uri="{A12FA001-AC4F-418D-AE19-62706E023703}">
                      <ahyp:hlinkClr val="tx"/>
                    </a:ext>
                  </a:extLst>
                </a:hlinkClick>
              </a:rPr>
              <a:t>https://doi.org/10.3389/fmicb.2020.577497</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Genome Assembly [Internet]. BIOTECHNOLOGY CENTER. Available a partir de: </a:t>
            </a:r>
            <a:r>
              <a:rPr lang="en" sz="600" u="sng">
                <a:solidFill>
                  <a:schemeClr val="dk1"/>
                </a:solidFill>
                <a:latin typeface="Georgia"/>
                <a:ea typeface="Georgia"/>
                <a:cs typeface="Georgia"/>
                <a:sym typeface="Georgia"/>
                <a:hlinkClick r:id="rId10">
                  <a:extLst>
                    <a:ext uri="{A12FA001-AC4F-418D-AE19-62706E023703}">
                      <ahyp:hlinkClr val="tx"/>
                    </a:ext>
                  </a:extLst>
                </a:hlinkClick>
              </a:rPr>
              <a:t>https://biotech.wisc.edu/brc/services/genome-assembly/</a:t>
            </a:r>
            <a:r>
              <a:rPr lang="en" sz="600">
                <a:solidFill>
                  <a:schemeClr val="dk1"/>
                </a:solidFill>
                <a:latin typeface="Georgia"/>
                <a:ea typeface="Georgia"/>
                <a:cs typeface="Georgia"/>
                <a:sym typeface="Georgia"/>
              </a:rPr>
              <a:t>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Kibet CK, Entfellner JBD, Jjingo D, De Villiers EP, De Villiers S, Wambui K, Kinyanjui S, Masiga D. Designing and delivering bioinformatics project-based learning in East Africa. BMC Bioinformatics [Internet]. 2024 abr 14;25(1):150. Available a partir de: </a:t>
            </a:r>
            <a:r>
              <a:rPr lang="en" sz="600" u="sng">
                <a:solidFill>
                  <a:schemeClr val="dk1"/>
                </a:solidFill>
                <a:latin typeface="Georgia"/>
                <a:ea typeface="Georgia"/>
                <a:cs typeface="Georgia"/>
                <a:sym typeface="Georgia"/>
                <a:hlinkClick r:id="rId11">
                  <a:extLst>
                    <a:ext uri="{A12FA001-AC4F-418D-AE19-62706E023703}">
                      <ahyp:hlinkClr val="tx"/>
                    </a:ext>
                  </a:extLst>
                </a:hlinkClick>
              </a:rPr>
              <a:t>https://pmc.ncbi.nlm.nih.gov/articles/PMC11017571/</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Mardis ER. The impact of next-generation sequencing technology on genetics. Trends In Genetics [Internet]. 2008 feb 13;24(3):133-141. Available a partir de: </a:t>
            </a:r>
            <a:r>
              <a:rPr lang="en" sz="600" u="sng">
                <a:solidFill>
                  <a:schemeClr val="dk1"/>
                </a:solidFill>
                <a:latin typeface="Georgia"/>
                <a:ea typeface="Georgia"/>
                <a:cs typeface="Georgia"/>
                <a:sym typeface="Georgia"/>
                <a:hlinkClick r:id="rId12">
                  <a:extLst>
                    <a:ext uri="{A12FA001-AC4F-418D-AE19-62706E023703}">
                      <ahyp:hlinkClr val="tx"/>
                    </a:ext>
                  </a:extLst>
                </a:hlinkClick>
              </a:rPr>
              <a:t>https://pmc.ncbi.nlm.nih.gov/articles/PMC2680276/</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Peona V, Blom MPK, Xu L, Burri R, Sullivan S, Bunikis I, Liachko I, Haryoko T, Jønsson KA, Zhou Q, Irestedt M, Suh A. Identifying the causes and consequences of assembly gaps using a multiplatform genome assembly of a bird‐of‐paradise. Molecular Ecology Resources [Internet]. 2020 sep 16;21(1):263-286. Available a partir de: </a:t>
            </a:r>
            <a:r>
              <a:rPr lang="en" sz="600" u="sng">
                <a:solidFill>
                  <a:schemeClr val="dk1"/>
                </a:solidFill>
                <a:latin typeface="Georgia"/>
                <a:ea typeface="Georgia"/>
                <a:cs typeface="Georgia"/>
                <a:sym typeface="Georgia"/>
                <a:hlinkClick r:id="rId13">
                  <a:extLst>
                    <a:ext uri="{A12FA001-AC4F-418D-AE19-62706E023703}">
                      <ahyp:hlinkClr val="tx"/>
                    </a:ext>
                  </a:extLst>
                </a:hlinkClick>
              </a:rPr>
              <a:t>https://doi.org/10.1111/1755-0998.13252</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Xiao W, Wu L, Yavas G, Simonyan V, Ning B, Hong H. Challenges, Solutions, and Quality Metrics of Personal Genome Assembly in Advancing Precision Medicine. Pharmaceutics [Internet]. 2016 abr 22;8(2):15. Available a partir de: </a:t>
            </a:r>
            <a:r>
              <a:rPr lang="en" sz="600" u="sng">
                <a:solidFill>
                  <a:schemeClr val="dk1"/>
                </a:solidFill>
                <a:latin typeface="Georgia"/>
                <a:ea typeface="Georgia"/>
                <a:cs typeface="Georgia"/>
                <a:sym typeface="Georgia"/>
                <a:hlinkClick r:id="rId14">
                  <a:extLst>
                    <a:ext uri="{A12FA001-AC4F-418D-AE19-62706E023703}">
                      <ahyp:hlinkClr val="tx"/>
                    </a:ext>
                  </a:extLst>
                </a:hlinkClick>
              </a:rPr>
              <a:t>https://pmc.ncbi.nlm.nih.gov/articles/PMC4932478/</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Genome Assembly: Overview of the Tools [Internet]. CD Genomics. Available a partir de: </a:t>
            </a:r>
            <a:r>
              <a:rPr lang="en" sz="600" u="sng">
                <a:solidFill>
                  <a:schemeClr val="dk1"/>
                </a:solidFill>
                <a:latin typeface="Georgia"/>
                <a:ea typeface="Georgia"/>
                <a:cs typeface="Georgia"/>
                <a:sym typeface="Georgia"/>
                <a:hlinkClick r:id="rId15">
                  <a:extLst>
                    <a:ext uri="{A12FA001-AC4F-418D-AE19-62706E023703}">
                      <ahyp:hlinkClr val="tx"/>
                    </a:ext>
                  </a:extLst>
                </a:hlinkClick>
              </a:rPr>
              <a:t>https://www.cd-genomics.com/resource-genome-assembly-overview-tools.html</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a:solidFill>
                  <a:schemeClr val="dk1"/>
                </a:solidFill>
                <a:latin typeface="Georgia"/>
                <a:ea typeface="Georgia"/>
                <a:cs typeface="Georgia"/>
                <a:sym typeface="Georgia"/>
              </a:rPr>
              <a:t>PacBio. Beyond contiguity — assessing the quality of genome assemblies with the 3 Cs [Internet]. PacBio. 2022. Available a partir de: </a:t>
            </a:r>
            <a:r>
              <a:rPr lang="en" sz="600" u="sng">
                <a:solidFill>
                  <a:schemeClr val="dk1"/>
                </a:solidFill>
                <a:latin typeface="Georgia"/>
                <a:ea typeface="Georgia"/>
                <a:cs typeface="Georgia"/>
                <a:sym typeface="Georgia"/>
                <a:hlinkClick r:id="rId16">
                  <a:extLst>
                    <a:ext uri="{A12FA001-AC4F-418D-AE19-62706E023703}">
                      <ahyp:hlinkClr val="tx"/>
                    </a:ext>
                  </a:extLst>
                </a:hlinkClick>
              </a:rPr>
              <a:t>https://www.pacb.com/blog/beyond-contiguity/</a:t>
            </a:r>
            <a:r>
              <a:rPr lang="en" sz="600">
                <a:solidFill>
                  <a:schemeClr val="dk1"/>
                </a:solidFill>
                <a:latin typeface="Georgia"/>
                <a:ea typeface="Georgia"/>
                <a:cs typeface="Georgia"/>
                <a:sym typeface="Georgia"/>
              </a:rPr>
              <a:t> </a:t>
            </a:r>
            <a:endParaRPr sz="600">
              <a:solidFill>
                <a:schemeClr val="dk1"/>
              </a:solidFill>
              <a:latin typeface="Georgia"/>
              <a:ea typeface="Georgia"/>
              <a:cs typeface="Georgia"/>
              <a:sym typeface="Georgia"/>
            </a:endParaRPr>
          </a:p>
          <a:p>
            <a:pPr indent="0" lvl="0" marL="0" rtl="0" algn="just">
              <a:lnSpc>
                <a:spcPct val="100000"/>
              </a:lnSpc>
              <a:spcBef>
                <a:spcPts val="0"/>
              </a:spcBef>
              <a:spcAft>
                <a:spcPts val="0"/>
              </a:spcAft>
              <a:buNone/>
            </a:pPr>
            <a:r>
              <a:rPr lang="en" sz="600" u="sng">
                <a:solidFill>
                  <a:schemeClr val="dk1"/>
                </a:solidFill>
                <a:latin typeface="Georgia"/>
                <a:ea typeface="Georgia"/>
                <a:cs typeface="Georgia"/>
                <a:sym typeface="Georgia"/>
                <a:hlinkClick r:id="rId17">
                  <a:extLst>
                    <a:ext uri="{A12FA001-AC4F-418D-AE19-62706E023703}">
                      <ahyp:hlinkClr val="tx"/>
                    </a:ext>
                  </a:extLst>
                </a:hlinkClick>
              </a:rPr>
              <a:t>https://www.sciencedirect.com/topics/agricultural-and-biological-sciences/genome-assembly</a:t>
            </a:r>
            <a:r>
              <a:rPr lang="en" sz="600" u="sng">
                <a:solidFill>
                  <a:schemeClr val="dk1"/>
                </a:solidFill>
                <a:latin typeface="Georgia"/>
                <a:ea typeface="Georgia"/>
                <a:cs typeface="Georgia"/>
                <a:sym typeface="Georgia"/>
              </a:rPr>
              <a:t>,</a:t>
            </a:r>
            <a:r>
              <a:rPr lang="en" sz="600" u="sng">
                <a:solidFill>
                  <a:schemeClr val="dk1"/>
                </a:solidFill>
                <a:latin typeface="Georgia"/>
                <a:ea typeface="Georgia"/>
                <a:cs typeface="Georgia"/>
                <a:sym typeface="Georgia"/>
                <a:hlinkClick r:id="rId18">
                  <a:extLst>
                    <a:ext uri="{A12FA001-AC4F-418D-AE19-62706E023703}">
                      <ahyp:hlinkClr val="tx"/>
                    </a:ext>
                  </a:extLst>
                </a:hlinkClick>
              </a:rPr>
              <a:t>https://academic.oup.com/bioinformatics/article/31/19/3210/211866</a:t>
            </a:r>
            <a:r>
              <a:rPr lang="en" sz="600"/>
              <a:t>, </a:t>
            </a:r>
            <a:r>
              <a:rPr lang="en" sz="600" u="sng">
                <a:solidFill>
                  <a:schemeClr val="dk1"/>
                </a:solidFill>
                <a:latin typeface="Georgia"/>
                <a:ea typeface="Georgia"/>
                <a:cs typeface="Georgia"/>
                <a:sym typeface="Georgia"/>
                <a:hlinkClick r:id="rId19">
                  <a:extLst>
                    <a:ext uri="{A12FA001-AC4F-418D-AE19-62706E023703}">
                      <ahyp:hlinkClr val="tx"/>
                    </a:ext>
                  </a:extLst>
                </a:hlinkClick>
              </a:rPr>
              <a:t>https://www.reddit.com/r/bioinformatics/comments/rtayb/how_difficult_is_it_to_assemble_and_annotate_a/</a:t>
            </a:r>
            <a:r>
              <a:rPr lang="en" sz="600"/>
              <a:t>,</a:t>
            </a:r>
            <a:r>
              <a:rPr lang="en" sz="600" u="sng">
                <a:solidFill>
                  <a:schemeClr val="dk1"/>
                </a:solidFill>
                <a:latin typeface="Georgia"/>
                <a:ea typeface="Georgia"/>
                <a:cs typeface="Georgia"/>
                <a:sym typeface="Georgia"/>
                <a:hlinkClick r:id="rId20">
                  <a:extLst>
                    <a:ext uri="{A12FA001-AC4F-418D-AE19-62706E023703}">
                      <ahyp:hlinkClr val="tx"/>
                    </a:ext>
                  </a:extLst>
                </a:hlinkClick>
              </a:rPr>
              <a:t>https://academic.oup.com/bfg/article/18/1/1/5181442</a:t>
            </a:r>
            <a:r>
              <a:rPr lang="en" sz="600"/>
              <a:t>, </a:t>
            </a:r>
            <a:r>
              <a:rPr lang="en" sz="600" u="sng">
                <a:solidFill>
                  <a:schemeClr val="dk1"/>
                </a:solidFill>
                <a:latin typeface="Georgia"/>
                <a:ea typeface="Georgia"/>
                <a:cs typeface="Georgia"/>
                <a:sym typeface="Georgia"/>
                <a:hlinkClick r:id="rId21">
                  <a:extLst>
                    <a:ext uri="{A12FA001-AC4F-418D-AE19-62706E023703}">
                      <ahyp:hlinkClr val="tx"/>
                    </a:ext>
                  </a:extLst>
                </a:hlinkClick>
              </a:rPr>
              <a:t>ttps://www.sciencedirect.com/org/science/article/pii/S1875036218000031</a:t>
            </a:r>
            <a:endParaRPr sz="600">
              <a:solidFill>
                <a:schemeClr val="dk1"/>
              </a:solidFill>
              <a:latin typeface="Georgia"/>
              <a:ea typeface="Georgia"/>
              <a:cs typeface="Georgia"/>
              <a:sym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4"/>
          <p:cNvSpPr txBox="1"/>
          <p:nvPr>
            <p:ph idx="4294967295" type="ctrTitle"/>
          </p:nvPr>
        </p:nvSpPr>
        <p:spPr>
          <a:xfrm>
            <a:off x="2431925" y="878494"/>
            <a:ext cx="5617800" cy="587400"/>
          </a:xfrm>
          <a:prstGeom prst="rect">
            <a:avLst/>
          </a:prstGeom>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4000"/>
              <a:t>thanks!</a:t>
            </a:r>
            <a:endParaRPr sz="4000"/>
          </a:p>
        </p:txBody>
      </p:sp>
      <p:sp>
        <p:nvSpPr>
          <p:cNvPr id="332" name="Google Shape;332;p34"/>
          <p:cNvSpPr txBox="1"/>
          <p:nvPr>
            <p:ph idx="4294967295" type="subTitle"/>
          </p:nvPr>
        </p:nvSpPr>
        <p:spPr>
          <a:xfrm>
            <a:off x="2431925" y="1591725"/>
            <a:ext cx="5617800" cy="784800"/>
          </a:xfrm>
          <a:prstGeom prst="rect">
            <a:avLst/>
          </a:prstGeom>
        </p:spPr>
        <p:txBody>
          <a:bodyPr anchorCtr="0" anchor="t" bIns="91425" lIns="91425" spcFirstLastPara="1" rIns="91425" wrap="square" tIns="91425">
            <a:noAutofit/>
          </a:bodyPr>
          <a:lstStyle/>
          <a:p>
            <a:pPr indent="0" lvl="0" marL="0" rtl="0" algn="r">
              <a:spcBef>
                <a:spcPts val="600"/>
              </a:spcBef>
              <a:spcAft>
                <a:spcPts val="0"/>
              </a:spcAft>
              <a:buNone/>
            </a:pPr>
            <a:r>
              <a:rPr lang="en" sz="4000">
                <a:solidFill>
                  <a:srgbClr val="FFFFFF"/>
                </a:solidFill>
                <a:highlight>
                  <a:srgbClr val="FF0000"/>
                </a:highlight>
              </a:rPr>
              <a:t>Any questions?</a:t>
            </a:r>
            <a:endParaRPr sz="4000">
              <a:solidFill>
                <a:srgbClr val="FFFFFF"/>
              </a:solidFill>
              <a:highlight>
                <a:srgbClr val="FF0000"/>
              </a:highlight>
            </a:endParaRPr>
          </a:p>
        </p:txBody>
      </p:sp>
      <p:sp>
        <p:nvSpPr>
          <p:cNvPr id="333" name="Google Shape;333;p34"/>
          <p:cNvSpPr/>
          <p:nvPr/>
        </p:nvSpPr>
        <p:spPr>
          <a:xfrm>
            <a:off x="6616054" y="2739391"/>
            <a:ext cx="1295700" cy="1298400"/>
          </a:xfrm>
          <a:prstGeom prst="rect">
            <a:avLst/>
          </a:prstGeom>
          <a:noFill/>
          <a:ln cap="flat" cmpd="sng" w="76200">
            <a:solidFill>
              <a:srgbClr val="FF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0">
                <a:solidFill>
                  <a:srgbClr val="111111"/>
                </a:solidFill>
                <a:latin typeface="Georgia"/>
                <a:ea typeface="Georgia"/>
                <a:cs typeface="Georgia"/>
                <a:sym typeface="Georgia"/>
              </a:rPr>
              <a:t>?</a:t>
            </a:r>
            <a:endParaRPr b="1" sz="6000">
              <a:solidFill>
                <a:srgbClr val="111111"/>
              </a:solidFill>
              <a:latin typeface="Georgia"/>
              <a:ea typeface="Georgia"/>
              <a:cs typeface="Georgia"/>
              <a:sym typeface="Georgia"/>
            </a:endParaRPr>
          </a:p>
        </p:txBody>
      </p:sp>
      <p:sp>
        <p:nvSpPr>
          <p:cNvPr id="334" name="Google Shape;334;p34"/>
          <p:cNvSpPr txBox="1"/>
          <p:nvPr>
            <p:ph idx="12" type="sldNum"/>
          </p:nvPr>
        </p:nvSpPr>
        <p:spPr>
          <a:xfrm>
            <a:off x="4297650" y="4717914"/>
            <a:ext cx="5487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ysander template">
  <a:themeElements>
    <a:clrScheme name="Custom 347">
      <a:dk1>
        <a:srgbClr val="111111"/>
      </a:dk1>
      <a:lt1>
        <a:srgbClr val="FFFFFF"/>
      </a:lt1>
      <a:dk2>
        <a:srgbClr val="999999"/>
      </a:dk2>
      <a:lt2>
        <a:srgbClr val="EFEFEF"/>
      </a:lt2>
      <a:accent1>
        <a:srgbClr val="FF0000"/>
      </a:accent1>
      <a:accent2>
        <a:srgbClr val="CC0000"/>
      </a:accent2>
      <a:accent3>
        <a:srgbClr val="434343"/>
      </a:accent3>
      <a:accent4>
        <a:srgbClr val="999999"/>
      </a:accent4>
      <a:accent5>
        <a:srgbClr val="CCCCCC"/>
      </a:accent5>
      <a:accent6>
        <a:srgbClr val="EFEFEF"/>
      </a:accent6>
      <a:hlink>
        <a:srgbClr val="111111"/>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